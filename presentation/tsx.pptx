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70" r:id="rId7"/>
    <p:sldId id="262" r:id="rId8"/>
    <p:sldId id="263" r:id="rId9"/>
    <p:sldId id="265" r:id="rId10"/>
    <p:sldId id="266" r:id="rId11"/>
    <p:sldId id="267" r:id="rId12"/>
    <p:sldId id="268" r:id="rId13"/>
    <p:sldId id="269"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B4BF-6F3A-4713-261F-BEEA0BED8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3DE47E-20FB-D7B7-EE52-CDB2B084F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50F501-6D11-8A94-CB40-CD1419BCE539}"/>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89E889AA-7C24-49B8-201A-683CDEA45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6BB09-5E3C-4A0F-A01B-BA0ADDC039CC}"/>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1126887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0561-C55A-A438-59FC-D923B5CF72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B0F5C5-6472-5F6D-A2E5-AA4E2AA98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51C268-6E80-D224-F7C3-550CD08CA4C1}"/>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1869CCB4-D2F6-8752-1B05-2AAAEE7C7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85422-C6E5-1AFA-18FA-EC5665DDA1D0}"/>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3740000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B6F4-CFD2-2BAA-48A3-6B3A0B54AD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208FFB-AF17-3014-E9FF-54A91897F5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BEAE6A-9B75-0886-0060-9B1F76114D1B}"/>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0BAFA20D-8910-BA39-86D9-0F60626964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27632-81E6-918B-46ED-61DDCB94517C}"/>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3468907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4A108-7106-2259-36C1-C4DA45F0B9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38A4C4-4EC7-8FF2-7C4A-9BF78D28F1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F3174A-6CCD-0A25-0046-5CB1CE3761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1F941-3B0D-64B1-E0F9-735872DA2749}"/>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6" name="Footer Placeholder 5">
            <a:extLst>
              <a:ext uri="{FF2B5EF4-FFF2-40B4-BE49-F238E27FC236}">
                <a16:creationId xmlns:a16="http://schemas.microsoft.com/office/drawing/2014/main" id="{FA619D67-7CE6-0BDE-0847-091F8E10BE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6B50B5-7A4C-5E33-A4DA-FDA54A5F4B48}"/>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1906981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FFF4-78CF-6A15-E8FD-2FAAE73BF9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32FDC4-0430-BA4D-9DEE-113F430290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304850-C62F-0493-E02E-F5B58A5A2C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C8172F-6B41-2308-B283-E724AD3187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E2A75-5B70-E709-4607-9B37B58063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B1BDB7-A67B-3E87-6D4B-55C0F882825E}"/>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8" name="Footer Placeholder 7">
            <a:extLst>
              <a:ext uri="{FF2B5EF4-FFF2-40B4-BE49-F238E27FC236}">
                <a16:creationId xmlns:a16="http://schemas.microsoft.com/office/drawing/2014/main" id="{49414DC6-FEFA-2731-4015-449292E80B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AD49E4-2292-CEB0-28F4-3CD4284E2FC4}"/>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1454576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A24A0-4067-03DB-6F41-247A98D8EB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FFDFB3-F613-851F-CE20-5B9B7E8D4F87}"/>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4" name="Footer Placeholder 3">
            <a:extLst>
              <a:ext uri="{FF2B5EF4-FFF2-40B4-BE49-F238E27FC236}">
                <a16:creationId xmlns:a16="http://schemas.microsoft.com/office/drawing/2014/main" id="{A8C20983-A325-5F45-4B5F-A9857B690B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8E1214-2F90-BA9A-5043-94A2471C120D}"/>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351410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C41F24-4775-7F0C-ED60-6AA198017E0E}"/>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3" name="Footer Placeholder 2">
            <a:extLst>
              <a:ext uri="{FF2B5EF4-FFF2-40B4-BE49-F238E27FC236}">
                <a16:creationId xmlns:a16="http://schemas.microsoft.com/office/drawing/2014/main" id="{01DC11B6-08E2-C26D-483E-BAD3AF1686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B2EBDA-9DB9-4D8E-704F-D1B7AD21AD6B}"/>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477116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C01CD-DB55-E442-8304-C345CE0F0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E269DA-1F8D-9B7B-0E59-1A62D8AA6E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A6592C-63DA-63D2-7FB2-996E7D0E4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E91393-7670-47B0-2D10-145ECE15B51F}"/>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6" name="Footer Placeholder 5">
            <a:extLst>
              <a:ext uri="{FF2B5EF4-FFF2-40B4-BE49-F238E27FC236}">
                <a16:creationId xmlns:a16="http://schemas.microsoft.com/office/drawing/2014/main" id="{21000B2E-FFF9-E4A0-F520-DA4DF6936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63EBD-86E5-2E26-D3A5-24DDFCB2A08F}"/>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380303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3B029-1532-4178-B8A4-A5FAE3DC4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00DFE8-D9AE-5809-FD4D-5931717470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0CB301-C5AF-9D54-9917-0EFFD77952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C08BE9-7BC1-E4C8-2455-F4EEA64A67E7}"/>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6" name="Footer Placeholder 5">
            <a:extLst>
              <a:ext uri="{FF2B5EF4-FFF2-40B4-BE49-F238E27FC236}">
                <a16:creationId xmlns:a16="http://schemas.microsoft.com/office/drawing/2014/main" id="{2C6706DC-D45F-5E54-E521-02100F11BA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3D2FFB-53FB-C40F-40F0-06C94CB4EBEC}"/>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297329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30E2B-DB03-AF18-6C9E-69BBBF652A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A18003-02E3-6322-791D-83A3084934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B715B-E3A7-1762-4474-B5ECB7ACB720}"/>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31DEDD3B-D6D1-9DA1-C64A-F417817B3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8F4187-A32C-AFB9-AA68-522C27487307}"/>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1619921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11B356-AAA4-E07D-742A-BDEDC5AF89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737A41-09AB-24CC-3152-ECEB1B4A70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F9631-DF2B-0BED-18ED-FAB8DA36022E}"/>
              </a:ext>
            </a:extLst>
          </p:cNvPr>
          <p:cNvSpPr>
            <a:spLocks noGrp="1"/>
          </p:cNvSpPr>
          <p:nvPr>
            <p:ph type="dt" sz="half" idx="10"/>
          </p:nvPr>
        </p:nvSpPr>
        <p:spPr/>
        <p:txBody>
          <a:body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D67AC206-DFAE-CBE9-646B-863D0B5E8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93AF-72C7-C1FE-171A-61E6214CCDD6}"/>
              </a:ext>
            </a:extLst>
          </p:cNvPr>
          <p:cNvSpPr>
            <a:spLocks noGrp="1"/>
          </p:cNvSpPr>
          <p:nvPr>
            <p:ph type="sldNum" sz="quarter" idx="12"/>
          </p:nvPr>
        </p:nvSpPr>
        <p:spPr/>
        <p:txBody>
          <a:bodyPr/>
          <a:lstStyle/>
          <a:p>
            <a:fld id="{F4A73F56-B5CB-4EDD-AF71-5B82F5000662}" type="slidenum">
              <a:rPr lang="en-US" smtClean="0"/>
              <a:t>‹#›</a:t>
            </a:fld>
            <a:endParaRPr lang="en-US"/>
          </a:p>
        </p:txBody>
      </p:sp>
    </p:spTree>
    <p:extLst>
      <p:ext uri="{BB962C8B-B14F-4D97-AF65-F5344CB8AC3E}">
        <p14:creationId xmlns:p14="http://schemas.microsoft.com/office/powerpoint/2010/main" val="964809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4C7200-463E-0104-6DAB-76D4EA47F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9A51F9-553B-E108-699F-992EC254E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37AA01-D0DF-9715-2B4A-F105B2AB3E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92B127-18EE-4216-8517-40ADCE093BF1}" type="datetimeFigureOut">
              <a:rPr lang="en-US" smtClean="0"/>
              <a:t>3/25/2026</a:t>
            </a:fld>
            <a:endParaRPr lang="en-US"/>
          </a:p>
        </p:txBody>
      </p:sp>
      <p:sp>
        <p:nvSpPr>
          <p:cNvPr id="5" name="Footer Placeholder 4">
            <a:extLst>
              <a:ext uri="{FF2B5EF4-FFF2-40B4-BE49-F238E27FC236}">
                <a16:creationId xmlns:a16="http://schemas.microsoft.com/office/drawing/2014/main" id="{A7F4B81D-F303-DBB5-4AFE-F4FCD5CA19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C0A85A-1FD5-C805-AA43-128872C905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A73F56-B5CB-4EDD-AF71-5B82F5000662}" type="slidenum">
              <a:rPr lang="en-US" smtClean="0"/>
              <a:t>‹#›</a:t>
            </a:fld>
            <a:endParaRPr lang="en-US"/>
          </a:p>
        </p:txBody>
      </p:sp>
    </p:spTree>
    <p:extLst>
      <p:ext uri="{BB962C8B-B14F-4D97-AF65-F5344CB8AC3E}">
        <p14:creationId xmlns:p14="http://schemas.microsoft.com/office/powerpoint/2010/main" val="3913868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AEFD19-98B8-B4A5-395C-9ED657115CE9}"/>
              </a:ext>
            </a:extLst>
          </p:cNvPr>
          <p:cNvSpPr txBox="1"/>
          <p:nvPr/>
        </p:nvSpPr>
        <p:spPr>
          <a:xfrm>
            <a:off x="821094"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4" name="Picture 3">
            <a:extLst>
              <a:ext uri="{FF2B5EF4-FFF2-40B4-BE49-F238E27FC236}">
                <a16:creationId xmlns:a16="http://schemas.microsoft.com/office/drawing/2014/main" id="{8F82775C-A8FE-1F7A-E612-2FA38481AC21}"/>
              </a:ext>
            </a:extLst>
          </p:cNvPr>
          <p:cNvPicPr>
            <a:picLocks noChangeAspect="1"/>
          </p:cNvPicPr>
          <p:nvPr/>
        </p:nvPicPr>
        <p:blipFill>
          <a:blip r:embed="rId2"/>
          <a:stretch>
            <a:fillRect/>
          </a:stretch>
        </p:blipFill>
        <p:spPr>
          <a:xfrm>
            <a:off x="101082" y="139958"/>
            <a:ext cx="646331" cy="646331"/>
          </a:xfrm>
          <a:prstGeom prst="rect">
            <a:avLst/>
          </a:prstGeom>
        </p:spPr>
      </p:pic>
      <p:sp>
        <p:nvSpPr>
          <p:cNvPr id="5" name="TextBox 4">
            <a:extLst>
              <a:ext uri="{FF2B5EF4-FFF2-40B4-BE49-F238E27FC236}">
                <a16:creationId xmlns:a16="http://schemas.microsoft.com/office/drawing/2014/main" id="{16AD3A1B-01F5-BF13-6760-93BAEADCDC55}"/>
              </a:ext>
            </a:extLst>
          </p:cNvPr>
          <p:cNvSpPr txBox="1"/>
          <p:nvPr/>
        </p:nvSpPr>
        <p:spPr>
          <a:xfrm>
            <a:off x="747413" y="1707502"/>
            <a:ext cx="10589281" cy="1569660"/>
          </a:xfrm>
          <a:prstGeom prst="rect">
            <a:avLst/>
          </a:prstGeom>
          <a:noFill/>
        </p:spPr>
        <p:txBody>
          <a:bodyPr wrap="square" rtlCol="0">
            <a:spAutoFit/>
          </a:bodyPr>
          <a:lstStyle/>
          <a:p>
            <a:pPr algn="ctr"/>
            <a:r>
              <a:rPr lang="vi-VN" sz="3600" dirty="0">
                <a:latin typeface="Bahnschrift SemiBold Condensed" panose="020B0502040204020203" pitchFamily="34" charset="0"/>
              </a:rPr>
              <a:t>ĐỀ TÀI</a:t>
            </a:r>
          </a:p>
          <a:p>
            <a:pPr algn="ctr"/>
            <a:r>
              <a:rPr lang="vi-VN" sz="6000" dirty="0">
                <a:latin typeface="Bahnschrift SemiBold Condensed" panose="020B0502040204020203" pitchFamily="34" charset="0"/>
              </a:rPr>
              <a:t>WEBSITE HỖ TRỢ ĐỔI ĐỊNH DẠNG FILE </a:t>
            </a:r>
            <a:endParaRPr lang="en-US" sz="6000" dirty="0">
              <a:latin typeface="Bahnschrift SemiBold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en-US" b="1" dirty="0">
                <a:latin typeface="Bahnschrift Condensed" panose="020B0502040204020203" pitchFamily="34" charset="0"/>
              </a:rPr>
              <a:t>TH5225 – </a:t>
            </a:r>
            <a:r>
              <a:rPr lang="vi-VN" b="1" dirty="0">
                <a:latin typeface="Bahnschrift Condensed" panose="020B0502040204020203" pitchFamily="34" charset="0"/>
              </a:rPr>
              <a:t>ĐA PHƯƠNG TIỆN</a:t>
            </a:r>
          </a:p>
          <a:p>
            <a:pPr algn="r"/>
            <a:r>
              <a:rPr lang="vi-VN" dirty="0">
                <a:latin typeface="Bahnschrift Light Condensed" panose="020B0502040204020203" pitchFamily="34" charset="0"/>
              </a:rPr>
              <a:t>NHÓM 11 - 22CN2</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381622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BE1DE82E-9ED9-3C76-40F2-550E2B28161E}"/>
              </a:ext>
            </a:extLst>
          </p:cNvPr>
          <p:cNvSpPr txBox="1"/>
          <p:nvPr/>
        </p:nvSpPr>
        <p:spPr>
          <a:xfrm>
            <a:off x="1894114" y="3816221"/>
            <a:ext cx="4077476" cy="1384995"/>
          </a:xfrm>
          <a:prstGeom prst="rect">
            <a:avLst/>
          </a:prstGeom>
          <a:noFill/>
        </p:spPr>
        <p:txBody>
          <a:bodyPr wrap="square" rtlCol="0">
            <a:spAutoFit/>
          </a:bodyPr>
          <a:lstStyle/>
          <a:p>
            <a:pPr algn="r"/>
            <a:r>
              <a:rPr lang="vi-VN" sz="2800" dirty="0">
                <a:latin typeface="Bahnschrift SemiBold Condensed" panose="020B0502040204020203" pitchFamily="34" charset="0"/>
              </a:rPr>
              <a:t>Giảng viên hướng dẫn</a:t>
            </a:r>
          </a:p>
          <a:p>
            <a:pPr algn="r"/>
            <a:endParaRPr lang="vi-VN" sz="2800" dirty="0">
              <a:latin typeface="Bahnschrift SemiBold Condensed" panose="020B0502040204020203" pitchFamily="34" charset="0"/>
            </a:endParaRPr>
          </a:p>
          <a:p>
            <a:pPr algn="r"/>
            <a:r>
              <a:rPr lang="vi-VN" sz="2800" dirty="0">
                <a:latin typeface="Bahnschrift SemiBold Condensed" panose="020B0502040204020203" pitchFamily="34" charset="0"/>
              </a:rPr>
              <a:t>Thành viên nhóm</a:t>
            </a:r>
            <a:endParaRPr lang="en-US" sz="2800" dirty="0">
              <a:latin typeface="Bahnschrift SemiBold Condensed" panose="020B0502040204020203" pitchFamily="34" charset="0"/>
            </a:endParaRPr>
          </a:p>
        </p:txBody>
      </p:sp>
      <p:sp>
        <p:nvSpPr>
          <p:cNvPr id="14" name="TextBox 13">
            <a:extLst>
              <a:ext uri="{FF2B5EF4-FFF2-40B4-BE49-F238E27FC236}">
                <a16:creationId xmlns:a16="http://schemas.microsoft.com/office/drawing/2014/main" id="{70444BA9-2E56-4542-5306-CD5D00CA2F2A}"/>
              </a:ext>
            </a:extLst>
          </p:cNvPr>
          <p:cNvSpPr txBox="1"/>
          <p:nvPr/>
        </p:nvSpPr>
        <p:spPr>
          <a:xfrm>
            <a:off x="6298163" y="3816221"/>
            <a:ext cx="3383901" cy="1815882"/>
          </a:xfrm>
          <a:prstGeom prst="rect">
            <a:avLst/>
          </a:prstGeom>
          <a:noFill/>
        </p:spPr>
        <p:txBody>
          <a:bodyPr wrap="square" rtlCol="0">
            <a:spAutoFit/>
          </a:bodyPr>
          <a:lstStyle/>
          <a:p>
            <a:r>
              <a:rPr lang="vi-VN" sz="2800" dirty="0">
                <a:latin typeface="Bahnschrift Light Condensed" panose="020B0502040204020203" pitchFamily="34" charset="0"/>
              </a:rPr>
              <a:t>ThS Nguyễn Mạnh Hùng</a:t>
            </a:r>
          </a:p>
          <a:p>
            <a:endParaRPr lang="vi-VN" sz="2800" dirty="0">
              <a:latin typeface="Bahnschrift Light Condensed" panose="020B0502040204020203" pitchFamily="34" charset="0"/>
            </a:endParaRPr>
          </a:p>
          <a:p>
            <a:r>
              <a:rPr lang="vi-VN" sz="2800" dirty="0">
                <a:latin typeface="Bahnschrift Light Condensed" panose="020B0502040204020203" pitchFamily="34" charset="0"/>
              </a:rPr>
              <a:t>Nguyễn Hải Đăng</a:t>
            </a:r>
          </a:p>
          <a:p>
            <a:r>
              <a:rPr lang="vi-VN" sz="2800" dirty="0">
                <a:solidFill>
                  <a:schemeClr val="bg1">
                    <a:lumMod val="75000"/>
                  </a:schemeClr>
                </a:solidFill>
                <a:latin typeface="Bahnschrift Light Condensed" panose="020B0502040204020203" pitchFamily="34" charset="0"/>
              </a:rPr>
              <a:t>2255010058</a:t>
            </a:r>
            <a:endParaRPr lang="en-US" sz="2800" dirty="0">
              <a:solidFill>
                <a:schemeClr val="bg1">
                  <a:lumMod val="75000"/>
                </a:schemeClr>
              </a:solidFill>
              <a:latin typeface="Bahnschrift Light Condensed" panose="020B0502040204020203" pitchFamily="34" charset="0"/>
            </a:endParaRPr>
          </a:p>
        </p:txBody>
      </p:sp>
      <p:sp>
        <p:nvSpPr>
          <p:cNvPr id="15" name="Rectangle 14">
            <a:extLst>
              <a:ext uri="{FF2B5EF4-FFF2-40B4-BE49-F238E27FC236}">
                <a16:creationId xmlns:a16="http://schemas.microsoft.com/office/drawing/2014/main" id="{F8182E56-B61D-4FB9-34DE-A81C4743E5AF}"/>
              </a:ext>
            </a:extLst>
          </p:cNvPr>
          <p:cNvSpPr/>
          <p:nvPr/>
        </p:nvSpPr>
        <p:spPr>
          <a:xfrm>
            <a:off x="10692882"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630112"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9E7DDF4-2B26-FC35-54F4-D25D1217CD87}"/>
              </a:ext>
            </a:extLst>
          </p:cNvPr>
          <p:cNvSpPr txBox="1"/>
          <p:nvPr/>
        </p:nvSpPr>
        <p:spPr>
          <a:xfrm>
            <a:off x="11110038" y="139956"/>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Condensed" panose="020B0502040204020203" pitchFamily="34" charset="0"/>
              </a:rPr>
              <a:t>GIỚI THIỆU CHUNG VỀ TRANG WEB</a:t>
            </a:r>
            <a:endParaRPr lang="vi-VN" dirty="0">
              <a:latin typeface="Bahnschrift Light Condensed" panose="020B0502040204020203" pitchFamily="34" charset="0"/>
            </a:endParaRPr>
          </a:p>
        </p:txBody>
      </p:sp>
    </p:spTree>
    <p:extLst>
      <p:ext uri="{BB962C8B-B14F-4D97-AF65-F5344CB8AC3E}">
        <p14:creationId xmlns:p14="http://schemas.microsoft.com/office/powerpoint/2010/main" val="835819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0A010FA-6A98-7B5C-4A5F-DE9037A1ED60}"/>
              </a:ext>
            </a:extLst>
          </p:cNvPr>
          <p:cNvSpPr txBox="1"/>
          <p:nvPr/>
        </p:nvSpPr>
        <p:spPr>
          <a:xfrm>
            <a:off x="0" y="3617196"/>
            <a:ext cx="3771072" cy="3770263"/>
          </a:xfrm>
          <a:prstGeom prst="rect">
            <a:avLst/>
          </a:prstGeom>
          <a:noFill/>
        </p:spPr>
        <p:txBody>
          <a:bodyPr wrap="square" rtlCol="0">
            <a:spAutoFit/>
          </a:bodyPr>
          <a:lstStyle/>
          <a:p>
            <a:r>
              <a:rPr lang="vi-VN" sz="23900">
                <a:solidFill>
                  <a:schemeClr val="bg1">
                    <a:lumMod val="95000"/>
                  </a:schemeClr>
                </a:solidFill>
                <a:latin typeface="Bahnschrift Condensed" panose="020B0502040204020203" pitchFamily="34" charset="0"/>
              </a:rPr>
              <a:t>01</a:t>
            </a:r>
            <a:endParaRPr lang="en-US" sz="23900" dirty="0">
              <a:solidFill>
                <a:schemeClr val="bg1">
                  <a:lumMod val="95000"/>
                </a:schemeClr>
              </a:solidFill>
              <a:latin typeface="Bahnschrift Condensed" panose="020B0502040204020203" pitchFamily="34" charset="0"/>
            </a:endParaRPr>
          </a:p>
        </p:txBody>
      </p:sp>
      <p:pic>
        <p:nvPicPr>
          <p:cNvPr id="21" name="Picture 20">
            <a:extLst>
              <a:ext uri="{FF2B5EF4-FFF2-40B4-BE49-F238E27FC236}">
                <a16:creationId xmlns:a16="http://schemas.microsoft.com/office/drawing/2014/main" id="{7E3D2AF1-6BB2-A738-0856-7DBDD45D9CD7}"/>
              </a:ext>
            </a:extLst>
          </p:cNvPr>
          <p:cNvPicPr>
            <a:picLocks noChangeAspect="1"/>
          </p:cNvPicPr>
          <p:nvPr/>
        </p:nvPicPr>
        <p:blipFill>
          <a:blip r:embed="rId2"/>
          <a:stretch>
            <a:fillRect/>
          </a:stretch>
        </p:blipFill>
        <p:spPr>
          <a:xfrm>
            <a:off x="-1160424" y="-2670317"/>
            <a:ext cx="15008152" cy="7046559"/>
          </a:xfrm>
          <a:prstGeom prst="rect">
            <a:avLst/>
          </a:prstGeom>
          <a:effectLst>
            <a:softEdge rad="635000"/>
          </a:effectLst>
        </p:spPr>
      </p:pic>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solidFill>
                  <a:schemeClr val="bg1"/>
                </a:solidFill>
                <a:latin typeface="Bahnschrift Condensed" panose="020B0502040204020203" pitchFamily="34" charset="0"/>
              </a:rPr>
              <a:t>PHẦN I</a:t>
            </a:r>
          </a:p>
          <a:p>
            <a:pPr algn="r"/>
            <a:r>
              <a:rPr lang="en-US" dirty="0">
                <a:solidFill>
                  <a:schemeClr val="bg1"/>
                </a:solidFill>
                <a:latin typeface="Bahnschrift Light Condensed" panose="020B0502040204020203" pitchFamily="34" charset="0"/>
              </a:rPr>
              <a:t>RAPID THRU: UI</a:t>
            </a:r>
            <a:endParaRPr lang="vi-VN" dirty="0">
              <a:solidFill>
                <a:schemeClr val="bg1"/>
              </a:solidFill>
              <a:latin typeface="Bahnschrift Light Condensed" panose="020B0502040204020203" pitchFamily="34" charset="0"/>
            </a:endParaRP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3"/>
          <a:stretch>
            <a:fillRect/>
          </a:stretch>
        </p:blipFill>
        <p:spPr>
          <a:xfrm>
            <a:off x="-5861568" y="139958"/>
            <a:ext cx="646331" cy="646331"/>
          </a:xfrm>
          <a:prstGeom prst="rect">
            <a:avLst/>
          </a:prstGeom>
        </p:spPr>
      </p:pic>
      <p:sp>
        <p:nvSpPr>
          <p:cNvPr id="7" name="TextBox 6">
            <a:extLst>
              <a:ext uri="{FF2B5EF4-FFF2-40B4-BE49-F238E27FC236}">
                <a16:creationId xmlns:a16="http://schemas.microsoft.com/office/drawing/2014/main" id="{C77EF4B8-4BC6-2863-C341-F9BFA249C2AF}"/>
              </a:ext>
            </a:extLst>
          </p:cNvPr>
          <p:cNvSpPr txBox="1"/>
          <p:nvPr/>
        </p:nvSpPr>
        <p:spPr>
          <a:xfrm>
            <a:off x="12011025" y="139957"/>
            <a:ext cx="2394468" cy="646331"/>
          </a:xfrm>
          <a:prstGeom prst="rect">
            <a:avLst/>
          </a:prstGeom>
          <a:noFill/>
        </p:spPr>
        <p:txBody>
          <a:bodyPr wrap="square" rtlCol="0">
            <a:spAutoFit/>
          </a:bodyPr>
          <a:lstStyle/>
          <a:p>
            <a:pPr algn="r"/>
            <a:r>
              <a:rPr lang="en-US" b="1" dirty="0">
                <a:latin typeface="Bahnschrift Condensed" panose="020B0502040204020203" pitchFamily="34" charset="0"/>
              </a:rPr>
              <a:t>TH5225 – </a:t>
            </a:r>
            <a:r>
              <a:rPr lang="vi-VN" b="1" dirty="0">
                <a:latin typeface="Bahnschrift Condensed" panose="020B0502040204020203" pitchFamily="34" charset="0"/>
              </a:rPr>
              <a:t>ĐA PHƯƠNG TIỆN</a:t>
            </a:r>
          </a:p>
          <a:p>
            <a:pPr algn="r"/>
            <a:r>
              <a:rPr lang="vi-VN" dirty="0">
                <a:latin typeface="Bahnschrift Light Condensed" panose="020B0502040204020203" pitchFamily="34" charset="0"/>
              </a:rPr>
              <a:t>NHÓM 11 - 22CN2</a:t>
            </a:r>
          </a:p>
        </p:txBody>
      </p:sp>
      <p:sp>
        <p:nvSpPr>
          <p:cNvPr id="8" name="TextBox 7">
            <a:extLst>
              <a:ext uri="{FF2B5EF4-FFF2-40B4-BE49-F238E27FC236}">
                <a16:creationId xmlns:a16="http://schemas.microsoft.com/office/drawing/2014/main" id="{2CBB1057-2292-19DA-0173-C64163389F0A}"/>
              </a:ext>
            </a:extLst>
          </p:cNvPr>
          <p:cNvSpPr txBox="1"/>
          <p:nvPr/>
        </p:nvSpPr>
        <p:spPr>
          <a:xfrm>
            <a:off x="6343652" y="111382"/>
            <a:ext cx="4497356" cy="369332"/>
          </a:xfrm>
          <a:prstGeom prst="rect">
            <a:avLst/>
          </a:prstGeom>
          <a:noFill/>
        </p:spPr>
        <p:txBody>
          <a:bodyPr wrap="square" rtlCol="0">
            <a:spAutoFit/>
          </a:bodyPr>
          <a:lstStyle/>
          <a:p>
            <a:r>
              <a:rPr lang="vi-VN" dirty="0">
                <a:solidFill>
                  <a:schemeClr val="bg1">
                    <a:lumMod val="85000"/>
                  </a:schemeClr>
                </a:solidFill>
                <a:latin typeface="Bahnschrift SemiBold Condensed" panose="020B0502040204020203" pitchFamily="34" charset="0"/>
              </a:rPr>
              <a:t>PHẦN IV                     PHẦN III                          PHẦN II</a:t>
            </a:r>
            <a:endParaRPr lang="en-US" dirty="0">
              <a:solidFill>
                <a:schemeClr val="bg1">
                  <a:lumMod val="85000"/>
                </a:schemeClr>
              </a:solidFill>
              <a:latin typeface="Bahnschrift SemiBold Condensed" panose="020B0502040204020203" pitchFamily="34" charset="0"/>
            </a:endParaRPr>
          </a:p>
        </p:txBody>
      </p:sp>
      <p:sp>
        <p:nvSpPr>
          <p:cNvPr id="9" name="TextBox 8">
            <a:extLst>
              <a:ext uri="{FF2B5EF4-FFF2-40B4-BE49-F238E27FC236}">
                <a16:creationId xmlns:a16="http://schemas.microsoft.com/office/drawing/2014/main" id="{41B73E14-A0D9-B4AA-B0FF-447312F1EF44}"/>
              </a:ext>
            </a:extLst>
          </p:cNvPr>
          <p:cNvSpPr txBox="1"/>
          <p:nvPr/>
        </p:nvSpPr>
        <p:spPr>
          <a:xfrm>
            <a:off x="285750" y="4889971"/>
            <a:ext cx="5200650" cy="1323439"/>
          </a:xfrm>
          <a:prstGeom prst="rect">
            <a:avLst/>
          </a:prstGeom>
          <a:noFill/>
        </p:spPr>
        <p:txBody>
          <a:bodyPr wrap="square" rtlCol="0">
            <a:spAutoFit/>
          </a:bodyPr>
          <a:lstStyle/>
          <a:p>
            <a:r>
              <a:rPr lang="vi-VN" sz="2000" dirty="0">
                <a:latin typeface="Bahnschrift Light Condensed" panose="020B0502040204020203" pitchFamily="34" charset="0"/>
              </a:rPr>
              <a:t>UI của Webapp được cảm hứng hóa từ</a:t>
            </a:r>
            <a:r>
              <a:rPr lang="en-US" sz="2000" dirty="0">
                <a:latin typeface="Bahnschrift Light Condensed" panose="020B0502040204020203" pitchFamily="34" charset="0"/>
              </a:rPr>
              <a:t> </a:t>
            </a:r>
            <a:r>
              <a:rPr lang="vi-VN" sz="2000" dirty="0">
                <a:latin typeface="Bahnschrift Light Condensed" panose="020B0502040204020203" pitchFamily="34" charset="0"/>
              </a:rPr>
              <a:t>hệ Ecosystems</a:t>
            </a:r>
            <a:r>
              <a:rPr lang="en-US" sz="2000" dirty="0">
                <a:latin typeface="Bahnschrift Light Condensed" panose="020B0502040204020203" pitchFamily="34" charset="0"/>
              </a:rPr>
              <a:t> </a:t>
            </a:r>
            <a:r>
              <a:rPr lang="vi-VN" sz="2000" dirty="0">
                <a:latin typeface="Bahnschrift Light Condensed" panose="020B0502040204020203" pitchFamily="34" charset="0"/>
              </a:rPr>
              <a:t>của Apple “Liquid Glass”, giới thiệu gần đây vào tháng 6, 2025, và hiện là giao diện được nói đến nhiều trong cộng đồng công nghệ.</a:t>
            </a:r>
            <a:endParaRPr lang="en-US" sz="2000" dirty="0">
              <a:latin typeface="Bahnschrift Light Condensed" panose="020B0502040204020203" pitchFamily="34" charset="0"/>
            </a:endParaRPr>
          </a:p>
        </p:txBody>
      </p:sp>
      <p:pic>
        <p:nvPicPr>
          <p:cNvPr id="22" name="Picture 21">
            <a:extLst>
              <a:ext uri="{FF2B5EF4-FFF2-40B4-BE49-F238E27FC236}">
                <a16:creationId xmlns:a16="http://schemas.microsoft.com/office/drawing/2014/main" id="{3718B83D-1471-07A9-3A90-30B62E5828CB}"/>
              </a:ext>
            </a:extLst>
          </p:cNvPr>
          <p:cNvPicPr>
            <a:picLocks noChangeAspect="1"/>
          </p:cNvPicPr>
          <p:nvPr/>
        </p:nvPicPr>
        <p:blipFill>
          <a:blip r:embed="rId4"/>
          <a:stretch>
            <a:fillRect/>
          </a:stretch>
        </p:blipFill>
        <p:spPr>
          <a:xfrm>
            <a:off x="12296775" y="6858000"/>
            <a:ext cx="11159412" cy="13603082"/>
          </a:xfrm>
          <a:prstGeom prst="roundRect">
            <a:avLst>
              <a:gd name="adj" fmla="val 5031"/>
            </a:avLst>
          </a:prstGeom>
          <a:effectLst>
            <a:reflection stA="45000" endPos="46000" dist="50800" dir="5400000" sy="-100000" algn="bl" rotWithShape="0"/>
            <a:softEdge rad="0"/>
          </a:effectLst>
        </p:spPr>
      </p:pic>
      <p:pic>
        <p:nvPicPr>
          <p:cNvPr id="24" name="Picture 23" descr="A blurry green red and grey square&#10;&#10;AI-generated content may be incorrect.">
            <a:extLst>
              <a:ext uri="{FF2B5EF4-FFF2-40B4-BE49-F238E27FC236}">
                <a16:creationId xmlns:a16="http://schemas.microsoft.com/office/drawing/2014/main" id="{4861AA20-7C6D-2ECD-C70D-1B4CCA65DD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41861" y="829256"/>
            <a:ext cx="1098389" cy="1098389"/>
          </a:xfrm>
          <a:prstGeom prst="rect">
            <a:avLst/>
          </a:prstGeom>
        </p:spPr>
      </p:pic>
      <p:pic>
        <p:nvPicPr>
          <p:cNvPr id="25" name="Picture 24" descr="A blurry square with a white square&#10;&#10;AI-generated content may be incorrect.">
            <a:extLst>
              <a:ext uri="{FF2B5EF4-FFF2-40B4-BE49-F238E27FC236}">
                <a16:creationId xmlns:a16="http://schemas.microsoft.com/office/drawing/2014/main" id="{2337887D-5F8A-AB2B-53C9-202F5A68EE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565038" y="829257"/>
            <a:ext cx="1055420" cy="1055420"/>
          </a:xfrm>
          <a:prstGeom prst="rect">
            <a:avLst/>
          </a:prstGeom>
        </p:spPr>
      </p:pic>
      <p:pic>
        <p:nvPicPr>
          <p:cNvPr id="26" name="Picture 25" descr="A square with a grey center&#10;&#10;AI-generated content may be incorrect.">
            <a:extLst>
              <a:ext uri="{FF2B5EF4-FFF2-40B4-BE49-F238E27FC236}">
                <a16:creationId xmlns:a16="http://schemas.microsoft.com/office/drawing/2014/main" id="{63125D03-4FCF-3694-8E4B-10D2A2B8FA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32132" y="819732"/>
            <a:ext cx="1078584" cy="1078584"/>
          </a:xfrm>
          <a:prstGeom prst="rect">
            <a:avLst/>
          </a:prstGeom>
        </p:spPr>
      </p:pic>
      <p:pic>
        <p:nvPicPr>
          <p:cNvPr id="27" name="Picture 26" descr="A square with a grey background&#10;&#10;AI-generated content may be incorrect.">
            <a:extLst>
              <a:ext uri="{FF2B5EF4-FFF2-40B4-BE49-F238E27FC236}">
                <a16:creationId xmlns:a16="http://schemas.microsoft.com/office/drawing/2014/main" id="{DB4E3958-E02C-09F8-656D-63A1DA10EC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014624" y="786288"/>
            <a:ext cx="1098389" cy="1098389"/>
          </a:xfrm>
          <a:prstGeom prst="rect">
            <a:avLst/>
          </a:prstGeom>
        </p:spPr>
      </p:pic>
      <p:pic>
        <p:nvPicPr>
          <p:cNvPr id="28" name="Picture 27" descr="A green square with red squares&#10;&#10;AI-generated content may be incorrect.">
            <a:extLst>
              <a:ext uri="{FF2B5EF4-FFF2-40B4-BE49-F238E27FC236}">
                <a16:creationId xmlns:a16="http://schemas.microsoft.com/office/drawing/2014/main" id="{B430B0C0-100E-FD23-B15F-5135A923968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612121" y="806611"/>
            <a:ext cx="1098389" cy="1098389"/>
          </a:xfrm>
          <a:prstGeom prst="rect">
            <a:avLst/>
          </a:prstGeom>
        </p:spPr>
      </p:pic>
    </p:spTree>
    <p:extLst>
      <p:ext uri="{BB962C8B-B14F-4D97-AF65-F5344CB8AC3E}">
        <p14:creationId xmlns:p14="http://schemas.microsoft.com/office/powerpoint/2010/main" val="3609147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p:cTn id="13" dur="500" fill="hold"/>
                                        <p:tgtEl>
                                          <p:spTgt spid="21"/>
                                        </p:tgtEl>
                                        <p:attrNameLst>
                                          <p:attrName>ppt_x</p:attrName>
                                        </p:attrNameLst>
                                      </p:cBhvr>
                                      <p:tavLst>
                                        <p:tav tm="0">
                                          <p:val>
                                            <p:strVal val="#ppt_x"/>
                                          </p:val>
                                        </p:tav>
                                        <p:tav tm="100000">
                                          <p:val>
                                            <p:strVal val="#ppt_x"/>
                                          </p:val>
                                        </p:tav>
                                      </p:tavLst>
                                    </p:anim>
                                    <p:anim calcmode="lin" valueType="num">
                                      <p:cBhvr>
                                        <p:cTn id="14" dur="500" fill="hold"/>
                                        <p:tgtEl>
                                          <p:spTgt spid="21"/>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7" presetClass="exit" presetSubtype="0" fill="hold" grpId="1" nodeType="afterEffect">
                                  <p:stCondLst>
                                    <p:cond delay="2000"/>
                                  </p:stCondLst>
                                  <p:childTnLst>
                                    <p:animEffect transition="out" filter="fade">
                                      <p:cBhvr>
                                        <p:cTn id="17" dur="500"/>
                                        <p:tgtEl>
                                          <p:spTgt spid="8"/>
                                        </p:tgtEl>
                                      </p:cBhvr>
                                    </p:animEffect>
                                    <p:anim calcmode="lin" valueType="num">
                                      <p:cBhvr>
                                        <p:cTn id="18" dur="500"/>
                                        <p:tgtEl>
                                          <p:spTgt spid="8"/>
                                        </p:tgtEl>
                                        <p:attrNameLst>
                                          <p:attrName>ppt_x</p:attrName>
                                        </p:attrNameLst>
                                      </p:cBhvr>
                                      <p:tavLst>
                                        <p:tav tm="0">
                                          <p:val>
                                            <p:strVal val="ppt_x"/>
                                          </p:val>
                                        </p:tav>
                                        <p:tav tm="100000">
                                          <p:val>
                                            <p:strVal val="ppt_x"/>
                                          </p:val>
                                        </p:tav>
                                      </p:tavLst>
                                    </p:anim>
                                    <p:anim calcmode="lin" valueType="num">
                                      <p:cBhvr>
                                        <p:cTn id="19" dur="500"/>
                                        <p:tgtEl>
                                          <p:spTgt spid="8"/>
                                        </p:tgtEl>
                                        <p:attrNameLst>
                                          <p:attrName>ppt_y</p:attrName>
                                        </p:attrNameLst>
                                      </p:cBhvr>
                                      <p:tavLst>
                                        <p:tav tm="0">
                                          <p:val>
                                            <p:strVal val="ppt_y"/>
                                          </p:val>
                                        </p:tav>
                                        <p:tav tm="100000">
                                          <p:val>
                                            <p:strVal val="ppt_y-.1"/>
                                          </p:val>
                                        </p:tav>
                                      </p:tavLst>
                                    </p:anim>
                                    <p:set>
                                      <p:cBhvr>
                                        <p:cTn id="2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60969717-C7C4-F548-AAB5-2F95688F33B9}"/>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02</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cs typeface="Cascadia Code Light" panose="020B0609020000020004" pitchFamily="49" charset="0"/>
              </a:rPr>
              <a:t>GENERAL WEBAPP - FRONTEND</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7" name="TextBox 6">
            <a:extLst>
              <a:ext uri="{FF2B5EF4-FFF2-40B4-BE49-F238E27FC236}">
                <a16:creationId xmlns:a16="http://schemas.microsoft.com/office/drawing/2014/main" id="{C77EF4B8-4BC6-2863-C341-F9BFA249C2AF}"/>
              </a:ext>
            </a:extLst>
          </p:cNvPr>
          <p:cNvSpPr txBox="1"/>
          <p:nvPr/>
        </p:nvSpPr>
        <p:spPr>
          <a:xfrm>
            <a:off x="12011025" y="139957"/>
            <a:ext cx="2394468" cy="646331"/>
          </a:xfrm>
          <a:prstGeom prst="rect">
            <a:avLst/>
          </a:prstGeom>
          <a:noFill/>
        </p:spPr>
        <p:txBody>
          <a:bodyPr wrap="square" rtlCol="0">
            <a:spAutoFit/>
          </a:bodyPr>
          <a:lstStyle/>
          <a:p>
            <a:pPr algn="r"/>
            <a:r>
              <a:rPr lang="en-US" b="1" dirty="0">
                <a:latin typeface="Bahnschrift Condensed" panose="020B0502040204020203" pitchFamily="34" charset="0"/>
              </a:rPr>
              <a:t>TH5225 – </a:t>
            </a:r>
            <a:r>
              <a:rPr lang="vi-VN" b="1" dirty="0">
                <a:latin typeface="Bahnschrift Condensed" panose="020B0502040204020203" pitchFamily="34" charset="0"/>
              </a:rPr>
              <a:t>ĐA PHƯƠNG TIỆN</a:t>
            </a:r>
          </a:p>
          <a:p>
            <a:pPr algn="r"/>
            <a:r>
              <a:rPr lang="vi-VN" dirty="0">
                <a:latin typeface="Bahnschrift Light Condensed" panose="020B0502040204020203" pitchFamily="34" charset="0"/>
              </a:rPr>
              <a:t>NHÓM 11 - 22CN2</a:t>
            </a:r>
          </a:p>
        </p:txBody>
      </p:sp>
      <p:sp>
        <p:nvSpPr>
          <p:cNvPr id="9" name="TextBox 8">
            <a:extLst>
              <a:ext uri="{FF2B5EF4-FFF2-40B4-BE49-F238E27FC236}">
                <a16:creationId xmlns:a16="http://schemas.microsoft.com/office/drawing/2014/main" id="{41B73E14-A0D9-B4AA-B0FF-447312F1EF44}"/>
              </a:ext>
            </a:extLst>
          </p:cNvPr>
          <p:cNvSpPr txBox="1"/>
          <p:nvPr/>
        </p:nvSpPr>
        <p:spPr>
          <a:xfrm>
            <a:off x="495925" y="2509935"/>
            <a:ext cx="5200650" cy="3754874"/>
          </a:xfrm>
          <a:prstGeom prst="rect">
            <a:avLst/>
          </a:prstGeom>
          <a:noFill/>
        </p:spPr>
        <p:txBody>
          <a:bodyPr wrap="square" rtlCol="0">
            <a:spAutoFit/>
          </a:bodyPr>
          <a:lstStyle/>
          <a:p>
            <a:r>
              <a:rPr lang="vi-VN" sz="2000" dirty="0">
                <a:latin typeface="Bahnschrift Light Condensed" panose="020B0502040204020203" pitchFamily="34" charset="0"/>
              </a:rPr>
              <a:t>Sử dụng tag HTML </a:t>
            </a:r>
            <a:r>
              <a:rPr lang="vi-VN" dirty="0">
                <a:latin typeface="Cascadia Code Light" panose="020B0609020000020004" pitchFamily="49" charset="0"/>
                <a:cs typeface="Cascadia Code Light" panose="020B0609020000020004" pitchFamily="49" charset="0"/>
              </a:rPr>
              <a:t>&lt;filter&gt; </a:t>
            </a:r>
            <a:r>
              <a:rPr lang="vi-VN" sz="2000" dirty="0">
                <a:latin typeface="Bahnschrift Light Condensed" panose="020B0502040204020203" pitchFamily="34" charset="0"/>
              </a:rPr>
              <a:t>để chèn hiệu ứng Glass Morphosis </a:t>
            </a:r>
            <a:r>
              <a:rPr lang="vi-VN" sz="2000" b="1" dirty="0">
                <a:latin typeface="Bahnschrift SemiBold Condensed" panose="020B0502040204020203" pitchFamily="34" charset="0"/>
              </a:rPr>
              <a:t>vào CSS của các tag HTML </a:t>
            </a:r>
            <a:r>
              <a:rPr lang="vi-VN" dirty="0">
                <a:latin typeface="Cascadia Code Light" panose="020B0609020000020004" pitchFamily="49" charset="0"/>
                <a:cs typeface="Cascadia Code Light" panose="020B0609020000020004" pitchFamily="49" charset="0"/>
              </a:rPr>
              <a:t>&lt;div: background-color&gt; </a:t>
            </a:r>
            <a:r>
              <a:rPr lang="vi-VN" sz="2000" dirty="0">
                <a:latin typeface="Bahnschrift Light Condensed" panose="020B0502040204020203" pitchFamily="34" charset="0"/>
              </a:rPr>
              <a:t>qua một </a:t>
            </a:r>
            <a:r>
              <a:rPr lang="vi-VN" sz="2000" b="1" dirty="0">
                <a:latin typeface="Bahnschrift SemiBold Condensed" panose="020B0502040204020203" pitchFamily="34" charset="0"/>
              </a:rPr>
              <a:t>ảnh dịch chuyển “Displacement Map”.</a:t>
            </a:r>
          </a:p>
          <a:p>
            <a:endParaRPr lang="vi-VN" sz="2000" dirty="0">
              <a:latin typeface="Bahnschrift Light Condensed" panose="020B0502040204020203" pitchFamily="34" charset="0"/>
            </a:endParaRPr>
          </a:p>
          <a:p>
            <a:r>
              <a:rPr lang="vi-VN" sz="2000" dirty="0">
                <a:latin typeface="Bahnschrift Light Condensed" panose="020B0502040204020203" pitchFamily="34" charset="0"/>
              </a:rPr>
              <a:t>Ảnh dịch chuyển này giúp các attributes của tag </a:t>
            </a:r>
            <a:r>
              <a:rPr lang="vi-VN" dirty="0">
                <a:latin typeface="Cascadia Code Light" panose="020B0609020000020004" pitchFamily="49" charset="0"/>
                <a:cs typeface="Cascadia Code Light" panose="020B0609020000020004" pitchFamily="49" charset="0"/>
              </a:rPr>
              <a:t>&lt;filter&gt; </a:t>
            </a:r>
            <a:r>
              <a:rPr lang="vi-VN" sz="2000" dirty="0">
                <a:latin typeface="Bahnschrift Light Condensed" panose="020B0502040204020203" pitchFamily="34" charset="0"/>
                <a:cs typeface="Cascadia Code Light" panose="020B0609020000020004" pitchFamily="49" charset="0"/>
              </a:rPr>
              <a:t>thao túng các vật thể đằng sau nó qua hai kênh đỏ và xanh. Như có thể thấy, </a:t>
            </a:r>
            <a:r>
              <a:rPr lang="vi-VN" sz="2000" dirty="0">
                <a:latin typeface="Bahnschrift Condensed" panose="020B0502040204020203" pitchFamily="34" charset="0"/>
                <a:cs typeface="Cascadia Code Light" panose="020B0609020000020004" pitchFamily="49" charset="0"/>
              </a:rPr>
              <a:t>góc ảnh là đỏ 225 và xanh 225, nhưng giá trị giảm dần khi di chuyển về phía tâm ảnh</a:t>
            </a:r>
            <a:r>
              <a:rPr lang="en-US" sz="2000" dirty="0">
                <a:latin typeface="Bahnschrift Condensed" panose="020B0502040204020203" pitchFamily="34" charset="0"/>
                <a:cs typeface="Cascadia Code Light" panose="020B0609020000020004" pitchFamily="49" charset="0"/>
              </a:rPr>
              <a:t> </a:t>
            </a:r>
            <a:r>
              <a:rPr lang="vi-VN" sz="2000" dirty="0">
                <a:latin typeface="Bahnschrift Condensed" panose="020B0502040204020203" pitchFamily="34" charset="0"/>
                <a:cs typeface="Cascadia Code Light" panose="020B0609020000020004" pitchFamily="49" charset="0"/>
              </a:rPr>
              <a:t>tạo ra màu xám chung theo quy luật Trừ Màu, gây ra hiệu ứng “Liquid Glass”, </a:t>
            </a:r>
            <a:r>
              <a:rPr lang="vi-VN" sz="2000" dirty="0">
                <a:latin typeface="Bahnschrift Light Condensed" panose="020B0502040204020203" pitchFamily="34" charset="0"/>
                <a:cs typeface="Cascadia Code Light" panose="020B0609020000020004" pitchFamily="49" charset="0"/>
              </a:rPr>
              <a:t>ánh sáng bị tán ra phía ngoài ở góc, nhưng truyền thẳng ở giữa </a:t>
            </a:r>
            <a:r>
              <a:rPr lang="vi-VN" dirty="0">
                <a:latin typeface="Cascadia Code Light" panose="020B0609020000020004" pitchFamily="49" charset="0"/>
                <a:cs typeface="Cascadia Code Light" panose="020B0609020000020004" pitchFamily="49" charset="0"/>
              </a:rPr>
              <a:t>&lt;div&gt;.</a:t>
            </a:r>
            <a:endParaRPr lang="en-US" sz="2000" dirty="0">
              <a:latin typeface="Cascadia Code Light" panose="020B0609020000020004" pitchFamily="49" charset="0"/>
              <a:cs typeface="Cascadia Code Light" panose="020B0609020000020004" pitchFamily="49" charset="0"/>
            </a:endParaRPr>
          </a:p>
        </p:txBody>
      </p:sp>
      <p:pic>
        <p:nvPicPr>
          <p:cNvPr id="23" name="Picture 22" descr="A blurry green red and grey square&#10;&#10;AI-generated content may be incorrect.">
            <a:extLst>
              <a:ext uri="{FF2B5EF4-FFF2-40B4-BE49-F238E27FC236}">
                <a16:creationId xmlns:a16="http://schemas.microsoft.com/office/drawing/2014/main" id="{6E1BB6DF-B6EB-2413-9D52-C00CAC20D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0901" y="829256"/>
            <a:ext cx="1098389" cy="1098389"/>
          </a:xfrm>
          <a:prstGeom prst="rect">
            <a:avLst/>
          </a:prstGeom>
        </p:spPr>
      </p:pic>
      <p:pic>
        <p:nvPicPr>
          <p:cNvPr id="25" name="Picture 24" descr="A blurry square with a white square&#10;&#10;AI-generated content may be incorrect.">
            <a:extLst>
              <a:ext uri="{FF2B5EF4-FFF2-40B4-BE49-F238E27FC236}">
                <a16:creationId xmlns:a16="http://schemas.microsoft.com/office/drawing/2014/main" id="{8BCD1EEF-C109-83DD-61BF-90B4FBDB71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8718" y="829257"/>
            <a:ext cx="1055420" cy="1055420"/>
          </a:xfrm>
          <a:prstGeom prst="rect">
            <a:avLst/>
          </a:prstGeom>
        </p:spPr>
      </p:pic>
      <p:pic>
        <p:nvPicPr>
          <p:cNvPr id="27" name="Picture 26" descr="A square with a grey center&#10;&#10;AI-generated content may be incorrect.">
            <a:extLst>
              <a:ext uri="{FF2B5EF4-FFF2-40B4-BE49-F238E27FC236}">
                <a16:creationId xmlns:a16="http://schemas.microsoft.com/office/drawing/2014/main" id="{39125350-805D-5FAE-9FCE-E4E48178FA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6612" y="819732"/>
            <a:ext cx="1078584" cy="1078584"/>
          </a:xfrm>
          <a:prstGeom prst="rect">
            <a:avLst/>
          </a:prstGeom>
        </p:spPr>
      </p:pic>
      <p:pic>
        <p:nvPicPr>
          <p:cNvPr id="29" name="Picture 28" descr="A square with a grey background&#10;&#10;AI-generated content may be incorrect.">
            <a:extLst>
              <a:ext uri="{FF2B5EF4-FFF2-40B4-BE49-F238E27FC236}">
                <a16:creationId xmlns:a16="http://schemas.microsoft.com/office/drawing/2014/main" id="{DC7B500C-7795-17AB-B924-B65A96D5C0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84624" y="786288"/>
            <a:ext cx="1098389" cy="1098389"/>
          </a:xfrm>
          <a:prstGeom prst="rect">
            <a:avLst/>
          </a:prstGeom>
        </p:spPr>
      </p:pic>
      <p:pic>
        <p:nvPicPr>
          <p:cNvPr id="31" name="Picture 30" descr="A green square with red squares&#10;&#10;AI-generated content may be incorrect.">
            <a:extLst>
              <a:ext uri="{FF2B5EF4-FFF2-40B4-BE49-F238E27FC236}">
                <a16:creationId xmlns:a16="http://schemas.microsoft.com/office/drawing/2014/main" id="{ADA123E1-7D35-A505-224A-78677C48F3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32441" y="806611"/>
            <a:ext cx="1098389" cy="1098389"/>
          </a:xfrm>
          <a:prstGeom prst="rect">
            <a:avLst/>
          </a:prstGeom>
        </p:spPr>
      </p:pic>
      <p:pic>
        <p:nvPicPr>
          <p:cNvPr id="33" name="Picture 32">
            <a:extLst>
              <a:ext uri="{FF2B5EF4-FFF2-40B4-BE49-F238E27FC236}">
                <a16:creationId xmlns:a16="http://schemas.microsoft.com/office/drawing/2014/main" id="{8B49187A-CBDE-BDEE-EACC-514F5571C72D}"/>
              </a:ext>
            </a:extLst>
          </p:cNvPr>
          <p:cNvPicPr>
            <a:picLocks noChangeAspect="1"/>
          </p:cNvPicPr>
          <p:nvPr/>
        </p:nvPicPr>
        <p:blipFill>
          <a:blip r:embed="rId8"/>
          <a:stretch>
            <a:fillRect/>
          </a:stretch>
        </p:blipFill>
        <p:spPr>
          <a:xfrm>
            <a:off x="7585788" y="2602512"/>
            <a:ext cx="2701212" cy="3292719"/>
          </a:xfrm>
          <a:prstGeom prst="roundRect">
            <a:avLst>
              <a:gd name="adj" fmla="val 5031"/>
            </a:avLst>
          </a:prstGeom>
          <a:effectLst>
            <a:reflection blurRad="6350" stA="50000" endA="275" endPos="40000" dist="101600" dir="5400000" sy="-100000" algn="bl" rotWithShape="0"/>
            <a:softEdge rad="0"/>
          </a:effectLst>
        </p:spPr>
      </p:pic>
      <p:sp>
        <p:nvSpPr>
          <p:cNvPr id="35" name="TextBox 34">
            <a:extLst>
              <a:ext uri="{FF2B5EF4-FFF2-40B4-BE49-F238E27FC236}">
                <a16:creationId xmlns:a16="http://schemas.microsoft.com/office/drawing/2014/main" id="{7EC84F2F-A645-61D3-A607-973B07AC01AC}"/>
              </a:ext>
            </a:extLst>
          </p:cNvPr>
          <p:cNvSpPr txBox="1"/>
          <p:nvPr/>
        </p:nvSpPr>
        <p:spPr>
          <a:xfrm>
            <a:off x="608126" y="637597"/>
            <a:ext cx="4497355" cy="1395770"/>
          </a:xfrm>
          <a:prstGeom prst="snip2Diag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b="0" i="1" dirty="0">
                <a:solidFill>
                  <a:srgbClr val="FF0000"/>
                </a:solidFill>
                <a:effectLst/>
                <a:latin typeface="Consolas" panose="020B0609020204030204" pitchFamily="49" charset="0"/>
              </a:rPr>
              <a:t>        &lt;filter id="</a:t>
            </a:r>
            <a:r>
              <a:rPr lang="en-US" sz="1400" b="0" i="1" dirty="0" err="1">
                <a:solidFill>
                  <a:srgbClr val="FF0000"/>
                </a:solidFill>
                <a:effectLst/>
                <a:latin typeface="Consolas" panose="020B0609020204030204" pitchFamily="49" charset="0"/>
              </a:rPr>
              <a:t>glass_txture</a:t>
            </a:r>
            <a:r>
              <a:rPr lang="en-US" sz="1400" b="0" i="1" dirty="0">
                <a:solidFill>
                  <a:srgbClr val="FF0000"/>
                </a:solidFill>
                <a:effectLst/>
                <a:latin typeface="Consolas" panose="020B0609020204030204" pitchFamily="49" charset="0"/>
              </a:rPr>
              <a:t>"&gt;</a:t>
            </a:r>
          </a:p>
          <a:p>
            <a:r>
              <a:rPr lang="en-US" sz="1400" b="0" i="1" dirty="0">
                <a:effectLst/>
                <a:latin typeface="Consolas" panose="020B0609020204030204" pitchFamily="49" charset="0"/>
              </a:rPr>
              <a:t>            &lt;</a:t>
            </a:r>
            <a:r>
              <a:rPr lang="en-US" sz="1400" b="0" i="1" dirty="0" err="1">
                <a:effectLst/>
                <a:latin typeface="Consolas" panose="020B0609020204030204" pitchFamily="49" charset="0"/>
              </a:rPr>
              <a:t>feImage</a:t>
            </a:r>
            <a:r>
              <a:rPr lang="en-US" sz="1400" b="0" i="1" dirty="0">
                <a:effectLst/>
                <a:latin typeface="Consolas" panose="020B0609020204030204" pitchFamily="49" charset="0"/>
              </a:rPr>
              <a:t> </a:t>
            </a:r>
            <a:r>
              <a:rPr lang="en-US" sz="1400" b="0" i="1" dirty="0" err="1">
                <a:solidFill>
                  <a:schemeClr val="accent5">
                    <a:lumMod val="60000"/>
                    <a:lumOff val="40000"/>
                  </a:schemeClr>
                </a:solidFill>
                <a:effectLst/>
                <a:latin typeface="Consolas" panose="020B0609020204030204" pitchFamily="49" charset="0"/>
              </a:rPr>
              <a:t>href</a:t>
            </a:r>
            <a:r>
              <a:rPr lang="en-US" sz="1400" b="0" i="1" dirty="0">
                <a:effectLst/>
                <a:latin typeface="Consolas" panose="020B0609020204030204" pitchFamily="49" charset="0"/>
              </a:rPr>
              <a:t>="</a:t>
            </a:r>
            <a:r>
              <a:rPr lang="en-US" sz="1400" b="0" i="1" dirty="0">
                <a:solidFill>
                  <a:srgbClr val="00B050"/>
                </a:solidFill>
                <a:effectLst/>
                <a:latin typeface="Consolas" panose="020B0609020204030204" pitchFamily="49" charset="0"/>
              </a:rPr>
              <a:t>assets/glass_displacement5.png</a:t>
            </a:r>
            <a:r>
              <a:rPr lang="en-US" sz="1400" b="0" i="1" dirty="0">
                <a:effectLst/>
                <a:latin typeface="Consolas" panose="020B0609020204030204" pitchFamily="49" charset="0"/>
              </a:rPr>
              <a:t>" </a:t>
            </a:r>
            <a:r>
              <a:rPr lang="en-US" sz="1400" b="0" i="1" dirty="0">
                <a:solidFill>
                  <a:schemeClr val="accent5">
                    <a:lumMod val="60000"/>
                    <a:lumOff val="40000"/>
                  </a:schemeClr>
                </a:solidFill>
                <a:effectLst/>
                <a:latin typeface="Consolas" panose="020B0609020204030204" pitchFamily="49" charset="0"/>
              </a:rPr>
              <a:t>result</a:t>
            </a:r>
            <a:r>
              <a:rPr lang="en-US" sz="1400" b="0" i="1" dirty="0">
                <a:effectLst/>
                <a:latin typeface="Consolas" panose="020B0609020204030204" pitchFamily="49" charset="0"/>
              </a:rPr>
              <a:t>="map" </a:t>
            </a:r>
            <a:r>
              <a:rPr lang="en-US" sz="1400" b="0" i="1" dirty="0" err="1">
                <a:solidFill>
                  <a:schemeClr val="accent5">
                    <a:lumMod val="60000"/>
                    <a:lumOff val="40000"/>
                  </a:schemeClr>
                </a:solidFill>
                <a:effectLst/>
                <a:latin typeface="Consolas" panose="020B0609020204030204" pitchFamily="49" charset="0"/>
              </a:rPr>
              <a:t>preserveAspectRatio</a:t>
            </a:r>
            <a:r>
              <a:rPr lang="en-US" sz="1400" b="0" i="1" dirty="0">
                <a:effectLst/>
                <a:latin typeface="Consolas" panose="020B0609020204030204" pitchFamily="49" charset="0"/>
              </a:rPr>
              <a:t>="none"/&gt;</a:t>
            </a:r>
            <a:r>
              <a:rPr lang="en-US" sz="1400" b="0" i="1" dirty="0">
                <a:solidFill>
                  <a:srgbClr val="FF0000"/>
                </a:solidFill>
                <a:effectLst/>
                <a:latin typeface="Consolas" panose="020B0609020204030204" pitchFamily="49" charset="0"/>
              </a:rPr>
              <a:t>&lt;/filter&gt;</a:t>
            </a:r>
          </a:p>
        </p:txBody>
      </p:sp>
      <p:pic>
        <p:nvPicPr>
          <p:cNvPr id="44" name="Picture 43">
            <a:extLst>
              <a:ext uri="{FF2B5EF4-FFF2-40B4-BE49-F238E27FC236}">
                <a16:creationId xmlns:a16="http://schemas.microsoft.com/office/drawing/2014/main" id="{D5BA5E61-A8DF-A19E-8933-485C03FA739E}"/>
              </a:ext>
            </a:extLst>
          </p:cNvPr>
          <p:cNvPicPr>
            <a:picLocks noChangeAspect="1"/>
          </p:cNvPicPr>
          <p:nvPr/>
        </p:nvPicPr>
        <p:blipFill>
          <a:blip r:embed="rId9"/>
          <a:stretch>
            <a:fillRect/>
          </a:stretch>
        </p:blipFill>
        <p:spPr>
          <a:xfrm>
            <a:off x="268163" y="7150244"/>
            <a:ext cx="6325483" cy="3886742"/>
          </a:xfrm>
          <a:prstGeom prst="roundRect">
            <a:avLst>
              <a:gd name="adj" fmla="val 3924"/>
            </a:avLst>
          </a:prstGeom>
          <a:effectLst>
            <a:reflection blurRad="6350" stA="50000" endA="300" endPos="55000" dir="5400000" sy="-100000" algn="bl" rotWithShape="0"/>
          </a:effectLst>
        </p:spPr>
      </p:pic>
    </p:spTree>
    <p:extLst>
      <p:ext uri="{BB962C8B-B14F-4D97-AF65-F5344CB8AC3E}">
        <p14:creationId xmlns:p14="http://schemas.microsoft.com/office/powerpoint/2010/main" val="2099552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04D5CBB6-0B31-2BBD-A505-BC6E1C6B326A}"/>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03</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rPr>
              <a:t>JAVASCRIPT UI HANDLERS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92A5B59-E40C-7C23-3DD2-2EAC4EE62023}"/>
              </a:ext>
            </a:extLst>
          </p:cNvPr>
          <p:cNvPicPr>
            <a:picLocks noChangeAspect="1"/>
          </p:cNvPicPr>
          <p:nvPr/>
        </p:nvPicPr>
        <p:blipFill>
          <a:blip r:embed="rId2"/>
          <a:stretch>
            <a:fillRect/>
          </a:stretch>
        </p:blipFill>
        <p:spPr>
          <a:xfrm>
            <a:off x="390083" y="566564"/>
            <a:ext cx="6325483" cy="3886742"/>
          </a:xfrm>
          <a:prstGeom prst="roundRect">
            <a:avLst>
              <a:gd name="adj" fmla="val 3924"/>
            </a:avLst>
          </a:prstGeom>
          <a:effectLst>
            <a:reflection blurRad="6350" stA="50000" endA="275" endPos="40000" dist="101600" dir="5400000" sy="-100000" algn="bl" rotWithShape="0"/>
          </a:effectLst>
        </p:spPr>
      </p:pic>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3"/>
          <a:stretch>
            <a:fillRect/>
          </a:stretch>
        </p:blipFill>
        <p:spPr>
          <a:xfrm>
            <a:off x="-5861568" y="139958"/>
            <a:ext cx="646331" cy="646331"/>
          </a:xfrm>
          <a:prstGeom prst="rect">
            <a:avLst/>
          </a:prstGeom>
        </p:spPr>
      </p:pic>
      <p:sp>
        <p:nvSpPr>
          <p:cNvPr id="8" name="TextBox 7">
            <a:extLst>
              <a:ext uri="{FF2B5EF4-FFF2-40B4-BE49-F238E27FC236}">
                <a16:creationId xmlns:a16="http://schemas.microsoft.com/office/drawing/2014/main" id="{48CEA228-B964-BD3C-A73E-E935A365D20E}"/>
              </a:ext>
            </a:extLst>
          </p:cNvPr>
          <p:cNvSpPr txBox="1"/>
          <p:nvPr/>
        </p:nvSpPr>
        <p:spPr>
          <a:xfrm>
            <a:off x="6972520" y="1891399"/>
            <a:ext cx="5067300" cy="1395770"/>
          </a:xfrm>
          <a:prstGeom prst="snip2Diag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b="0" dirty="0">
                <a:solidFill>
                  <a:srgbClr val="EBBBFF"/>
                </a:solidFill>
                <a:effectLst/>
                <a:latin typeface="Consolas" panose="020B0609020204030204" pitchFamily="49" charset="0"/>
              </a:rPr>
              <a:t>function</a:t>
            </a:r>
            <a:r>
              <a:rPr lang="en-US" sz="1400" b="0" dirty="0">
                <a:solidFill>
                  <a:srgbClr val="FFFFFF"/>
                </a:solidFill>
                <a:effectLst/>
                <a:latin typeface="Consolas" panose="020B0609020204030204" pitchFamily="49" charset="0"/>
              </a:rPr>
              <a:t> </a:t>
            </a:r>
            <a:r>
              <a:rPr lang="en-US" sz="1400" b="0" dirty="0" err="1">
                <a:solidFill>
                  <a:srgbClr val="BBDAFF"/>
                </a:solidFill>
                <a:effectLst/>
                <a:latin typeface="Consolas" panose="020B0609020204030204" pitchFamily="49" charset="0"/>
              </a:rPr>
              <a:t>makeDraggable</a:t>
            </a:r>
            <a:r>
              <a:rPr lang="en-US" sz="1400" b="0" dirty="0">
                <a:solidFill>
                  <a:srgbClr val="FFFFFF"/>
                </a:solidFill>
                <a:effectLst/>
                <a:latin typeface="Consolas" panose="020B0609020204030204" pitchFamily="49" charset="0"/>
              </a:rPr>
              <a:t>(</a:t>
            </a:r>
            <a:r>
              <a:rPr lang="en-US" sz="1400" b="0" dirty="0">
                <a:solidFill>
                  <a:srgbClr val="FFC58F"/>
                </a:solidFill>
                <a:effectLst/>
                <a:latin typeface="Consolas" panose="020B0609020204030204" pitchFamily="49" charset="0"/>
              </a:rPr>
              <a:t>element</a:t>
            </a:r>
            <a:r>
              <a:rPr lang="en-US" sz="1400" b="0" dirty="0">
                <a:solidFill>
                  <a:srgbClr val="FFFFFF"/>
                </a:solidFill>
                <a:effectLst/>
                <a:latin typeface="Consolas" panose="020B0609020204030204" pitchFamily="49" charset="0"/>
              </a:rPr>
              <a:t>)</a:t>
            </a:r>
            <a:r>
              <a:rPr lang="vi-VN" sz="1400" b="0" dirty="0">
                <a:solidFill>
                  <a:srgbClr val="FFFFFF"/>
                </a:solidFill>
                <a:effectLst/>
                <a:latin typeface="Consolas" panose="020B0609020204030204" pitchFamily="49" charset="0"/>
              </a:rPr>
              <a:t> {</a:t>
            </a:r>
          </a:p>
          <a:p>
            <a:r>
              <a:rPr lang="en-US" sz="1400" b="0" dirty="0" err="1">
                <a:solidFill>
                  <a:srgbClr val="FFC58F"/>
                </a:solidFill>
                <a:effectLst/>
                <a:latin typeface="Consolas" panose="020B0609020204030204" pitchFamily="49" charset="0"/>
              </a:rPr>
              <a:t>element</a:t>
            </a:r>
            <a:r>
              <a:rPr lang="en-US" sz="1400" b="0" dirty="0" err="1">
                <a:solidFill>
                  <a:srgbClr val="BBDAFF"/>
                </a:solidFill>
                <a:effectLst/>
                <a:latin typeface="Consolas" panose="020B0609020204030204" pitchFamily="49" charset="0"/>
              </a:rPr>
              <a:t>.addEventListener</a:t>
            </a:r>
            <a:r>
              <a:rPr lang="en-US" sz="1400" b="0" dirty="0">
                <a:solidFill>
                  <a:srgbClr val="FFFFFF"/>
                </a:solidFill>
                <a:effectLst/>
                <a:latin typeface="Consolas" panose="020B0609020204030204" pitchFamily="49" charset="0"/>
              </a:rPr>
              <a:t>(</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mousedown</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FFC58F"/>
                </a:solidFill>
                <a:effectLst/>
                <a:latin typeface="Consolas" panose="020B0609020204030204" pitchFamily="49" charset="0"/>
              </a:rPr>
              <a:t>e</a:t>
            </a:r>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=&gt;</a:t>
            </a:r>
            <a:r>
              <a:rPr lang="en-US" sz="1400" b="0" dirty="0">
                <a:solidFill>
                  <a:srgbClr val="FFFFFF"/>
                </a:solidFill>
                <a:effectLst/>
                <a:latin typeface="Consolas" panose="020B0609020204030204" pitchFamily="49" charset="0"/>
              </a:rPr>
              <a:t> {</a:t>
            </a:r>
          </a:p>
          <a:p>
            <a:r>
              <a:rPr lang="en-US" sz="1400" b="0" dirty="0" err="1">
                <a:solidFill>
                  <a:srgbClr val="FF9DA4"/>
                </a:solidFill>
                <a:effectLst/>
                <a:latin typeface="Consolas" panose="020B0609020204030204" pitchFamily="49" charset="0"/>
              </a:rPr>
              <a:t>document</a:t>
            </a:r>
            <a:r>
              <a:rPr lang="en-US" sz="1400" b="0" dirty="0" err="1">
                <a:solidFill>
                  <a:srgbClr val="BBDAFF"/>
                </a:solidFill>
                <a:effectLst/>
                <a:latin typeface="Consolas" panose="020B0609020204030204" pitchFamily="49" charset="0"/>
              </a:rPr>
              <a:t>.addEventListener</a:t>
            </a:r>
            <a:r>
              <a:rPr lang="en-US" sz="1400" b="0" dirty="0">
                <a:solidFill>
                  <a:srgbClr val="FFFFFF"/>
                </a:solidFill>
                <a:effectLst/>
                <a:latin typeface="Consolas" panose="020B0609020204030204" pitchFamily="49" charset="0"/>
              </a:rPr>
              <a:t>(</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mousemove</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FFC58F"/>
                </a:solidFill>
                <a:effectLst/>
                <a:latin typeface="Consolas" panose="020B0609020204030204" pitchFamily="49" charset="0"/>
              </a:rPr>
              <a:t>e</a:t>
            </a:r>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=&gt;</a:t>
            </a:r>
            <a:r>
              <a:rPr lang="en-US" sz="1400" b="0" dirty="0">
                <a:solidFill>
                  <a:srgbClr val="FFFFFF"/>
                </a:solidFill>
                <a:effectLst/>
                <a:latin typeface="Consolas" panose="020B0609020204030204" pitchFamily="49" charset="0"/>
              </a:rPr>
              <a:t> {</a:t>
            </a:r>
          </a:p>
          <a:p>
            <a:r>
              <a:rPr lang="en-US" sz="1400" b="0" dirty="0" err="1">
                <a:solidFill>
                  <a:srgbClr val="FF9DA4"/>
                </a:solidFill>
                <a:effectLst/>
                <a:latin typeface="Consolas" panose="020B0609020204030204" pitchFamily="49" charset="0"/>
              </a:rPr>
              <a:t>document</a:t>
            </a:r>
            <a:r>
              <a:rPr lang="en-US" sz="1400" b="0" dirty="0" err="1">
                <a:solidFill>
                  <a:srgbClr val="BBDAFF"/>
                </a:solidFill>
                <a:effectLst/>
                <a:latin typeface="Consolas" panose="020B0609020204030204" pitchFamily="49" charset="0"/>
              </a:rPr>
              <a:t>.addEventListener</a:t>
            </a:r>
            <a:r>
              <a:rPr lang="en-US" sz="1400" b="0" dirty="0">
                <a:solidFill>
                  <a:srgbClr val="FFFFFF"/>
                </a:solidFill>
                <a:effectLst/>
                <a:latin typeface="Consolas" panose="020B0609020204030204" pitchFamily="49" charset="0"/>
              </a:rPr>
              <a:t>(</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mouseup</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 </a:t>
            </a:r>
            <a:r>
              <a:rPr lang="en-US" sz="1400" b="0" dirty="0">
                <a:solidFill>
                  <a:srgbClr val="EBBBFF"/>
                </a:solidFill>
                <a:effectLst/>
                <a:latin typeface="Consolas" panose="020B0609020204030204" pitchFamily="49" charset="0"/>
              </a:rPr>
              <a:t>=&gt;</a:t>
            </a:r>
            <a:r>
              <a:rPr lang="en-US" sz="1400" b="0" dirty="0">
                <a:solidFill>
                  <a:srgbClr val="FFFFFF"/>
                </a:solidFill>
                <a:effectLst/>
                <a:latin typeface="Consolas" panose="020B0609020204030204" pitchFamily="49" charset="0"/>
              </a:rPr>
              <a:t> {</a:t>
            </a:r>
          </a:p>
          <a:p>
            <a:r>
              <a:rPr lang="vi-VN" sz="1400" dirty="0">
                <a:solidFill>
                  <a:srgbClr val="FFFFFF"/>
                </a:solidFill>
                <a:latin typeface="Consolas" panose="020B0609020204030204" pitchFamily="49" charset="0"/>
              </a:rPr>
              <a:t>}</a:t>
            </a:r>
            <a:r>
              <a:rPr lang="en-US" sz="1400" b="0" dirty="0">
                <a:solidFill>
                  <a:srgbClr val="FFFFFF"/>
                </a:solidFill>
                <a:effectLst/>
                <a:latin typeface="Consolas" panose="020B0609020204030204" pitchFamily="49" charset="0"/>
              </a:rPr>
              <a:t> </a:t>
            </a:r>
            <a:r>
              <a:rPr lang="vi-VN" sz="1400" dirty="0">
                <a:solidFill>
                  <a:srgbClr val="FFFFFF"/>
                </a:solidFill>
                <a:latin typeface="Consolas" panose="020B0609020204030204" pitchFamily="49" charset="0"/>
              </a:rPr>
              <a:t>}</a:t>
            </a:r>
            <a:endParaRPr lang="en-US" sz="1400" b="0" dirty="0">
              <a:solidFill>
                <a:srgbClr val="FFFFFF"/>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02AA41FA-B2F7-861A-870C-E917D16E4432}"/>
              </a:ext>
            </a:extLst>
          </p:cNvPr>
          <p:cNvSpPr txBox="1"/>
          <p:nvPr/>
        </p:nvSpPr>
        <p:spPr>
          <a:xfrm>
            <a:off x="7081740" y="4392280"/>
            <a:ext cx="5200650" cy="1631216"/>
          </a:xfrm>
          <a:prstGeom prst="rect">
            <a:avLst/>
          </a:prstGeom>
          <a:noFill/>
        </p:spPr>
        <p:txBody>
          <a:bodyPr wrap="square" rtlCol="0">
            <a:spAutoFit/>
          </a:bodyPr>
          <a:lstStyle/>
          <a:p>
            <a:r>
              <a:rPr lang="vi-VN" sz="2000" dirty="0">
                <a:latin typeface="Bahnschrift Light Condensed" panose="020B0502040204020203" pitchFamily="34" charset="0"/>
              </a:rPr>
              <a:t>Ngoài ra</a:t>
            </a:r>
            <a:r>
              <a:rPr lang="en-US" sz="2000" dirty="0">
                <a:latin typeface="Bahnschrift Light Condensed" panose="020B0502040204020203" pitchFamily="34" charset="0"/>
              </a:rPr>
              <a:t>, </a:t>
            </a:r>
            <a:r>
              <a:rPr lang="vi-VN" sz="2000" dirty="0">
                <a:latin typeface="Bahnschrift Light Condensed" panose="020B0502040204020203" pitchFamily="34" charset="0"/>
              </a:rPr>
              <a:t>vị trí tuyệt đối của các </a:t>
            </a:r>
            <a:r>
              <a:rPr lang="vi-VN" dirty="0">
                <a:latin typeface="Cascadia Code Light" panose="020B0609020000020004" pitchFamily="49" charset="0"/>
                <a:cs typeface="Cascadia Code Light" panose="020B0609020000020004" pitchFamily="49" charset="0"/>
              </a:rPr>
              <a:t>&lt;div&gt; </a:t>
            </a:r>
            <a:r>
              <a:rPr lang="vi-VN" sz="2000" dirty="0">
                <a:latin typeface="Bahnschrift Light Condensed" panose="020B0502040204020203" pitchFamily="34" charset="0"/>
                <a:cs typeface="Cascadia Code Light" panose="020B0609020000020004" pitchFamily="49" charset="0"/>
              </a:rPr>
              <a:t>được thao túng băng một </a:t>
            </a:r>
            <a:r>
              <a:rPr lang="vi-VN" sz="2000" b="1" dirty="0">
                <a:latin typeface="Bahnschrift SemiBold Condensed" panose="020B0502040204020203" pitchFamily="34" charset="0"/>
                <a:cs typeface="Cascadia Code Light" panose="020B0609020000020004" pitchFamily="49" charset="0"/>
              </a:rPr>
              <a:t>function trong Javascripts. </a:t>
            </a:r>
            <a:r>
              <a:rPr lang="vi-VN" sz="2000" dirty="0">
                <a:latin typeface="Bahnschrift Light Condensed" panose="020B0502040204020203" pitchFamily="34" charset="0"/>
                <a:cs typeface="Cascadia Code Light" panose="020B0609020000020004" pitchFamily="49" charset="0"/>
              </a:rPr>
              <a:t>Function này chứa các </a:t>
            </a:r>
            <a:r>
              <a:rPr lang="vi-VN" sz="2000" b="1" dirty="0">
                <a:latin typeface="Bahnschrift SemiBold Condensed" panose="020B0502040204020203" pitchFamily="34" charset="0"/>
                <a:cs typeface="Cascadia Code Light" panose="020B0609020000020004" pitchFamily="49" charset="0"/>
              </a:rPr>
              <a:t>EventListeners cho chuột máy tính </a:t>
            </a:r>
            <a:r>
              <a:rPr lang="vi-VN" sz="2000" dirty="0">
                <a:latin typeface="Bahnschrift Light Condensed" panose="020B0502040204020203" pitchFamily="34" charset="0"/>
                <a:cs typeface="Cascadia Code Light" panose="020B0609020000020004" pitchFamily="49" charset="0"/>
              </a:rPr>
              <a:t>và qua đó, các </a:t>
            </a:r>
            <a:r>
              <a:rPr lang="vi-VN" sz="2000" dirty="0">
                <a:latin typeface="Cascadia Code Light" panose="020B0609020000020004" pitchFamily="49" charset="0"/>
                <a:cs typeface="Cascadia Code Light" panose="020B0609020000020004" pitchFamily="49" charset="0"/>
              </a:rPr>
              <a:t>&lt;div&gt;</a:t>
            </a:r>
            <a:r>
              <a:rPr lang="vi-VN" sz="2000" dirty="0">
                <a:latin typeface="Bahnschrift Light Condensed" panose="020B0502040204020203" pitchFamily="34" charset="0"/>
                <a:cs typeface="Cascadia Code Light" panose="020B0609020000020004" pitchFamily="49" charset="0"/>
              </a:rPr>
              <a:t> sẽ </a:t>
            </a:r>
            <a:r>
              <a:rPr lang="vi-VN" sz="2000" b="1" dirty="0">
                <a:latin typeface="Bahnschrift Condensed" panose="020B0502040204020203" pitchFamily="34" charset="0"/>
                <a:cs typeface="Cascadia Code Light" panose="020B0609020000020004" pitchFamily="49" charset="0"/>
              </a:rPr>
              <a:t>có thể được thả / kéo </a:t>
            </a:r>
            <a:r>
              <a:rPr lang="vi-VN" sz="2000" dirty="0">
                <a:latin typeface="Bahnschrift Light Condensed" panose="020B0502040204020203" pitchFamily="34" charset="0"/>
                <a:cs typeface="Cascadia Code Light" panose="020B0609020000020004" pitchFamily="49" charset="0"/>
              </a:rPr>
              <a:t>để có thể quản lý nhanh nếu mở nhiều Tab tùy chọn.</a:t>
            </a:r>
            <a:endParaRPr lang="en-US" sz="2000" dirty="0">
              <a:latin typeface="Cascadia Code Light" panose="020B0609020000020004" pitchFamily="49" charset="0"/>
              <a:cs typeface="Cascadia Code Light" panose="020B0609020000020004" pitchFamily="49" charset="0"/>
            </a:endParaRPr>
          </a:p>
        </p:txBody>
      </p:sp>
      <p:pic>
        <p:nvPicPr>
          <p:cNvPr id="13" name="Picture 12">
            <a:extLst>
              <a:ext uri="{FF2B5EF4-FFF2-40B4-BE49-F238E27FC236}">
                <a16:creationId xmlns:a16="http://schemas.microsoft.com/office/drawing/2014/main" id="{C15F3B28-B574-2839-D6B9-F3E4C053AD1B}"/>
              </a:ext>
            </a:extLst>
          </p:cNvPr>
          <p:cNvPicPr>
            <a:picLocks noChangeAspect="1"/>
          </p:cNvPicPr>
          <p:nvPr/>
        </p:nvPicPr>
        <p:blipFill>
          <a:blip r:embed="rId4"/>
          <a:stretch>
            <a:fillRect/>
          </a:stretch>
        </p:blipFill>
        <p:spPr>
          <a:xfrm>
            <a:off x="381005" y="7938969"/>
            <a:ext cx="6049816" cy="3185381"/>
          </a:xfrm>
          <a:prstGeom prst="roundRect">
            <a:avLst>
              <a:gd name="adj" fmla="val 5185"/>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58416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C5665C44-81BC-13C8-3BB6-F384B97A4A52}"/>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04</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rPr>
              <a:t>JAVASCRIPT UI HANDLERS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8" name="TextBox 7">
            <a:extLst>
              <a:ext uri="{FF2B5EF4-FFF2-40B4-BE49-F238E27FC236}">
                <a16:creationId xmlns:a16="http://schemas.microsoft.com/office/drawing/2014/main" id="{48CEA228-B964-BD3C-A73E-E935A365D20E}"/>
              </a:ext>
            </a:extLst>
          </p:cNvPr>
          <p:cNvSpPr txBox="1"/>
          <p:nvPr/>
        </p:nvSpPr>
        <p:spPr>
          <a:xfrm>
            <a:off x="6902402" y="3644629"/>
            <a:ext cx="5067300" cy="624423"/>
          </a:xfrm>
          <a:prstGeom prst="snip2Diag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b="0" dirty="0" err="1">
                <a:solidFill>
                  <a:srgbClr val="FF9DA4"/>
                </a:solidFill>
                <a:effectLst/>
                <a:latin typeface="Consolas" panose="020B0609020204030204" pitchFamily="49" charset="0"/>
              </a:rPr>
              <a:t>convertBtn</a:t>
            </a:r>
            <a:r>
              <a:rPr lang="en-US" sz="1400" b="0" dirty="0" err="1">
                <a:solidFill>
                  <a:srgbClr val="BBDAFF"/>
                </a:solidFill>
                <a:effectLst/>
                <a:latin typeface="Consolas" panose="020B0609020204030204" pitchFamily="49" charset="0"/>
              </a:rPr>
              <a:t>.addEventListener</a:t>
            </a:r>
            <a:r>
              <a:rPr lang="en-US" sz="1400" b="0" dirty="0">
                <a:solidFill>
                  <a:srgbClr val="FFFFFF"/>
                </a:solidFill>
                <a:effectLst/>
                <a:latin typeface="Consolas" panose="020B0609020204030204" pitchFamily="49" charset="0"/>
              </a:rPr>
              <a:t>(</a:t>
            </a:r>
            <a:r>
              <a:rPr lang="en-US" sz="1400" b="0" dirty="0">
                <a:solidFill>
                  <a:srgbClr val="D1F1A9"/>
                </a:solidFill>
                <a:effectLst/>
                <a:latin typeface="Consolas" panose="020B0609020204030204" pitchFamily="49" charset="0"/>
              </a:rPr>
              <a:t>'click'</a:t>
            </a:r>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async</a:t>
            </a:r>
            <a:r>
              <a:rPr lang="en-US" sz="1400" b="0" dirty="0">
                <a:solidFill>
                  <a:srgbClr val="FFFFFF"/>
                </a:solidFill>
                <a:effectLst/>
                <a:latin typeface="Consolas" panose="020B0609020204030204" pitchFamily="49" charset="0"/>
              </a:rPr>
              <a:t> () </a:t>
            </a:r>
            <a:r>
              <a:rPr lang="en-US" sz="1400" b="0" dirty="0">
                <a:solidFill>
                  <a:srgbClr val="EBBBFF"/>
                </a:solidFill>
                <a:effectLst/>
                <a:latin typeface="Consolas" panose="020B0609020204030204" pitchFamily="49" charset="0"/>
              </a:rPr>
              <a:t>=&gt;</a:t>
            </a:r>
            <a:r>
              <a:rPr lang="en-US" sz="1400" b="0" dirty="0">
                <a:solidFill>
                  <a:srgbClr val="FFFFFF"/>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02AA41FA-B2F7-861A-870C-E917D16E4432}"/>
              </a:ext>
            </a:extLst>
          </p:cNvPr>
          <p:cNvSpPr txBox="1"/>
          <p:nvPr/>
        </p:nvSpPr>
        <p:spPr>
          <a:xfrm>
            <a:off x="6835727" y="2277356"/>
            <a:ext cx="5200650" cy="1015663"/>
          </a:xfrm>
          <a:prstGeom prst="rect">
            <a:avLst/>
          </a:prstGeom>
          <a:noFill/>
        </p:spPr>
        <p:txBody>
          <a:bodyPr wrap="square" rtlCol="0">
            <a:spAutoFit/>
          </a:bodyPr>
          <a:lstStyle/>
          <a:p>
            <a:r>
              <a:rPr lang="en-US" sz="2000" dirty="0">
                <a:latin typeface="Bahnschrift Light Condensed" panose="020B0502040204020203" pitchFamily="34" charset="0"/>
              </a:rPr>
              <a:t>Trong </a:t>
            </a:r>
            <a:r>
              <a:rPr lang="vi-VN" sz="2000" dirty="0">
                <a:latin typeface="Bahnschrift Light Condensed" panose="020B0502040204020203" pitchFamily="34" charset="0"/>
              </a:rPr>
              <a:t>tab Chuyển đổi, Javascript sẽ Listen khi nào phím “Bắt đầu” được nhấn để chuyển files về mã lệnh Python ở Backend để áp dụng các thư viện chuyển đổi.</a:t>
            </a:r>
            <a:endParaRPr lang="en-US" sz="2000" dirty="0">
              <a:latin typeface="Cascadia Code Light" panose="020B0609020000020004" pitchFamily="49" charset="0"/>
              <a:cs typeface="Cascadia Code Light" panose="020B0609020000020004" pitchFamily="49" charset="0"/>
            </a:endParaRPr>
          </a:p>
        </p:txBody>
      </p:sp>
      <p:pic>
        <p:nvPicPr>
          <p:cNvPr id="5" name="Picture 4">
            <a:extLst>
              <a:ext uri="{FF2B5EF4-FFF2-40B4-BE49-F238E27FC236}">
                <a16:creationId xmlns:a16="http://schemas.microsoft.com/office/drawing/2014/main" id="{0D484B35-47A4-C7CB-4DE1-CFEB44944103}"/>
              </a:ext>
            </a:extLst>
          </p:cNvPr>
          <p:cNvPicPr>
            <a:picLocks noChangeAspect="1"/>
          </p:cNvPicPr>
          <p:nvPr/>
        </p:nvPicPr>
        <p:blipFill>
          <a:blip r:embed="rId3"/>
          <a:stretch>
            <a:fillRect/>
          </a:stretch>
        </p:blipFill>
        <p:spPr>
          <a:xfrm>
            <a:off x="381005" y="1660089"/>
            <a:ext cx="6049816" cy="3185381"/>
          </a:xfrm>
          <a:prstGeom prst="roundRect">
            <a:avLst>
              <a:gd name="adj" fmla="val 5185"/>
            </a:avLst>
          </a:prstGeom>
          <a:solidFill>
            <a:srgbClr val="FFFFFF">
              <a:shade val="85000"/>
            </a:srgbClr>
          </a:solidFill>
          <a:ln>
            <a:noFill/>
          </a:ln>
          <a:effectLst>
            <a:reflection blurRad="6350" stA="50000" endA="275" endPos="40000" dist="101600" dir="5400000" sy="-100000" algn="bl" rotWithShape="0"/>
          </a:effectLst>
        </p:spPr>
      </p:pic>
      <p:cxnSp>
        <p:nvCxnSpPr>
          <p:cNvPr id="9" name="Straight Arrow Connector 8">
            <a:extLst>
              <a:ext uri="{FF2B5EF4-FFF2-40B4-BE49-F238E27FC236}">
                <a16:creationId xmlns:a16="http://schemas.microsoft.com/office/drawing/2014/main" id="{BA8BAF0A-4539-772A-EE17-9BCBCBB3FB17}"/>
              </a:ext>
            </a:extLst>
          </p:cNvPr>
          <p:cNvCxnSpPr>
            <a:cxnSpLocks/>
          </p:cNvCxnSpPr>
          <p:nvPr/>
        </p:nvCxnSpPr>
        <p:spPr>
          <a:xfrm flipH="1">
            <a:off x="4057650" y="4269052"/>
            <a:ext cx="2667000" cy="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5479C552-D748-C17B-1CC4-E92C1650D3DB}"/>
              </a:ext>
            </a:extLst>
          </p:cNvPr>
          <p:cNvSpPr txBox="1"/>
          <p:nvPr/>
        </p:nvSpPr>
        <p:spPr>
          <a:xfrm>
            <a:off x="999370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PYTHON LIBRARIES</a:t>
            </a:r>
          </a:p>
        </p:txBody>
      </p:sp>
    </p:spTree>
    <p:extLst>
      <p:ext uri="{BB962C8B-B14F-4D97-AF65-F5344CB8AC3E}">
        <p14:creationId xmlns:p14="http://schemas.microsoft.com/office/powerpoint/2010/main" val="523550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4935B0-6453-489A-9C5E-AED7551379F5}"/>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05</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rPr>
              <a:t>SUPPORTED FORMATS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11" name="TextBox 10">
            <a:extLst>
              <a:ext uri="{FF2B5EF4-FFF2-40B4-BE49-F238E27FC236}">
                <a16:creationId xmlns:a16="http://schemas.microsoft.com/office/drawing/2014/main" id="{02AA41FA-B2F7-861A-870C-E917D16E4432}"/>
              </a:ext>
            </a:extLst>
          </p:cNvPr>
          <p:cNvSpPr txBox="1"/>
          <p:nvPr/>
        </p:nvSpPr>
        <p:spPr>
          <a:xfrm>
            <a:off x="6724650" y="2509935"/>
            <a:ext cx="4639897" cy="1652885"/>
          </a:xfrm>
          <a:prstGeom prst="snip2DiagRect">
            <a:avLst>
              <a:gd name="adj1" fmla="val 0"/>
              <a:gd name="adj2" fmla="val 13594"/>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const</a:t>
            </a:r>
            <a:r>
              <a:rPr lang="en-US" sz="1400" b="0" dirty="0">
                <a:solidFill>
                  <a:srgbClr val="FFFFFF"/>
                </a:solidFill>
                <a:effectLst/>
                <a:latin typeface="Consolas" panose="020B0609020204030204" pitchFamily="49" charset="0"/>
              </a:rPr>
              <a:t> </a:t>
            </a:r>
            <a:r>
              <a:rPr lang="en-US" sz="1400" b="0" dirty="0">
                <a:solidFill>
                  <a:srgbClr val="FF9DA4"/>
                </a:solidFill>
                <a:effectLst/>
                <a:latin typeface="Consolas" panose="020B0609020204030204" pitchFamily="49" charset="0"/>
              </a:rPr>
              <a:t>formats</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p>
          <a:p>
            <a:r>
              <a:rPr lang="en-US" sz="1400" b="0" dirty="0">
                <a:solidFill>
                  <a:srgbClr val="FFFFFF"/>
                </a:solidFill>
                <a:effectLst/>
                <a:latin typeface="Consolas" panose="020B0609020204030204" pitchFamily="49" charset="0"/>
              </a:rPr>
              <a:t>            </a:t>
            </a:r>
            <a:r>
              <a:rPr lang="en-US" sz="1400" b="0" dirty="0">
                <a:solidFill>
                  <a:srgbClr val="FF9DA4"/>
                </a:solidFill>
                <a:effectLst/>
                <a:latin typeface="Consolas" panose="020B0609020204030204" pitchFamily="49" charset="0"/>
              </a:rPr>
              <a:t>text</a:t>
            </a:r>
            <a:r>
              <a:rPr lang="en-US" sz="1400" b="0" dirty="0">
                <a:solidFill>
                  <a:srgbClr val="FFFFFF"/>
                </a:solidFill>
                <a:effectLst/>
                <a:latin typeface="Consolas" panose="020B0609020204030204" pitchFamily="49" charset="0"/>
              </a:rPr>
              <a:t>: </a:t>
            </a:r>
            <a:r>
              <a:rPr lang="vi-VN" sz="1400" b="0" dirty="0">
                <a:solidFill>
                  <a:srgbClr val="FFFFFF"/>
                </a:solidFill>
                <a:effectLst/>
                <a:latin typeface="Consolas" panose="020B0609020204030204" pitchFamily="49" charset="0"/>
              </a:rPr>
              <a:t> </a:t>
            </a:r>
            <a:r>
              <a:rPr lang="en-US" sz="1400" b="0" dirty="0">
                <a:solidFill>
                  <a:srgbClr val="FFFFFF"/>
                </a:solidFill>
                <a:effectLst/>
                <a:latin typeface="Consolas" panose="020B0609020204030204" pitchFamily="49" charset="0"/>
              </a:rPr>
              <a:t>[</a:t>
            </a:r>
            <a:r>
              <a:rPr lang="en-US" sz="1400" b="0" dirty="0">
                <a:solidFill>
                  <a:srgbClr val="D1F1A9"/>
                </a:solidFill>
                <a:effectLst/>
                <a:latin typeface="Consolas" panose="020B0609020204030204" pitchFamily="49" charset="0"/>
              </a:rPr>
              <a:t>'TXT'</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'DOCX'</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'PDF'</a:t>
            </a:r>
            <a:r>
              <a:rPr lang="en-US" sz="1400" b="0" dirty="0">
                <a:solidFill>
                  <a:srgbClr val="FFFFFF"/>
                </a:solidFill>
                <a:effectLst/>
                <a:latin typeface="Consolas" panose="020B0609020204030204" pitchFamily="49" charset="0"/>
              </a:rPr>
              <a:t>],</a:t>
            </a:r>
          </a:p>
          <a:p>
            <a:r>
              <a:rPr lang="en-US" sz="1400" b="0" dirty="0">
                <a:solidFill>
                  <a:srgbClr val="FFFFFF"/>
                </a:solidFill>
                <a:effectLst/>
                <a:latin typeface="Consolas" panose="020B0609020204030204" pitchFamily="49" charset="0"/>
              </a:rPr>
              <a:t>            </a:t>
            </a:r>
            <a:r>
              <a:rPr lang="en-US" sz="1400" b="0" dirty="0">
                <a:solidFill>
                  <a:srgbClr val="FF9DA4"/>
                </a:solidFill>
                <a:effectLst/>
                <a:latin typeface="Consolas" panose="020B0609020204030204" pitchFamily="49" charset="0"/>
              </a:rPr>
              <a:t>audio</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'MP3'</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'WAV'</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'AAC'</a:t>
            </a:r>
            <a:r>
              <a:rPr lang="en-US" sz="1400" b="0" dirty="0">
                <a:solidFill>
                  <a:srgbClr val="FFFFFF"/>
                </a:solidFill>
                <a:effectLst/>
                <a:latin typeface="Consolas" panose="020B0609020204030204" pitchFamily="49" charset="0"/>
              </a:rPr>
              <a:t>],</a:t>
            </a:r>
          </a:p>
          <a:p>
            <a:r>
              <a:rPr lang="en-US" sz="1400" b="0" dirty="0">
                <a:solidFill>
                  <a:srgbClr val="FFFFFF"/>
                </a:solidFill>
                <a:effectLst/>
                <a:latin typeface="Consolas" panose="020B0609020204030204" pitchFamily="49" charset="0"/>
              </a:rPr>
              <a:t>            </a:t>
            </a:r>
            <a:r>
              <a:rPr lang="en-US" sz="1400" b="0" dirty="0">
                <a:solidFill>
                  <a:srgbClr val="FF9DA4"/>
                </a:solidFill>
                <a:effectLst/>
                <a:latin typeface="Consolas" panose="020B0609020204030204" pitchFamily="49" charset="0"/>
              </a:rPr>
              <a:t>image</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'PNG'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'JPG'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'WEBP'</a:t>
            </a:r>
            <a:r>
              <a:rPr lang="en-US" sz="1400" b="0" dirty="0">
                <a:solidFill>
                  <a:srgbClr val="FFFFFF"/>
                </a:solidFill>
                <a:effectLst/>
                <a:latin typeface="Consolas" panose="020B0609020204030204" pitchFamily="49" charset="0"/>
              </a:rPr>
              <a:t>],</a:t>
            </a:r>
          </a:p>
          <a:p>
            <a:r>
              <a:rPr lang="en-US" sz="1400" b="0" dirty="0">
                <a:solidFill>
                  <a:srgbClr val="FFFFFF"/>
                </a:solidFill>
                <a:effectLst/>
                <a:latin typeface="Consolas" panose="020B0609020204030204" pitchFamily="49" charset="0"/>
              </a:rPr>
              <a:t>            </a:t>
            </a:r>
            <a:r>
              <a:rPr lang="en-US" sz="1400" b="0" dirty="0">
                <a:solidFill>
                  <a:srgbClr val="FF9DA4"/>
                </a:solidFill>
                <a:effectLst/>
                <a:latin typeface="Consolas" panose="020B0609020204030204" pitchFamily="49" charset="0"/>
              </a:rPr>
              <a:t>video</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'MP4'</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'MOV'</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'MP3'</a:t>
            </a:r>
            <a:r>
              <a:rPr lang="en-US" sz="1400" b="0" dirty="0">
                <a:solidFill>
                  <a:srgbClr val="FFFFFF"/>
                </a:solidFill>
                <a:effectLst/>
                <a:latin typeface="Consolas" panose="020B0609020204030204" pitchFamily="49" charset="0"/>
              </a:rPr>
              <a:t>] </a:t>
            </a:r>
          </a:p>
          <a:p>
            <a:r>
              <a:rPr lang="en-US" sz="1400" b="0" dirty="0">
                <a:solidFill>
                  <a:srgbClr val="FFFFFF"/>
                </a:solidFill>
                <a:effectLst/>
                <a:latin typeface="Consolas" panose="020B0609020204030204" pitchFamily="49" charset="0"/>
              </a:rPr>
              <a:t>        };</a:t>
            </a:r>
          </a:p>
        </p:txBody>
      </p:sp>
      <p:cxnSp>
        <p:nvCxnSpPr>
          <p:cNvPr id="9" name="Straight Arrow Connector 8">
            <a:extLst>
              <a:ext uri="{FF2B5EF4-FFF2-40B4-BE49-F238E27FC236}">
                <a16:creationId xmlns:a16="http://schemas.microsoft.com/office/drawing/2014/main" id="{BA8BAF0A-4539-772A-EE17-9BCBCBB3FB17}"/>
              </a:ext>
            </a:extLst>
          </p:cNvPr>
          <p:cNvCxnSpPr>
            <a:cxnSpLocks/>
          </p:cNvCxnSpPr>
          <p:nvPr/>
        </p:nvCxnSpPr>
        <p:spPr>
          <a:xfrm flipH="1">
            <a:off x="4057650" y="4269052"/>
            <a:ext cx="2667000" cy="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5479C552-D748-C17B-1CC4-E92C1650D3DB}"/>
              </a:ext>
            </a:extLst>
          </p:cNvPr>
          <p:cNvSpPr txBox="1"/>
          <p:nvPr/>
        </p:nvSpPr>
        <p:spPr>
          <a:xfrm>
            <a:off x="10322560" y="139957"/>
            <a:ext cx="4168503"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PYTHON LIBRARIES</a:t>
            </a:r>
          </a:p>
        </p:txBody>
      </p:sp>
      <p:sp>
        <p:nvSpPr>
          <p:cNvPr id="2" name="TextBox 1">
            <a:extLst>
              <a:ext uri="{FF2B5EF4-FFF2-40B4-BE49-F238E27FC236}">
                <a16:creationId xmlns:a16="http://schemas.microsoft.com/office/drawing/2014/main" id="{30198B14-5865-6F06-4AA7-491FEE20D88E}"/>
              </a:ext>
            </a:extLst>
          </p:cNvPr>
          <p:cNvSpPr txBox="1"/>
          <p:nvPr/>
        </p:nvSpPr>
        <p:spPr>
          <a:xfrm>
            <a:off x="467360" y="1848215"/>
            <a:ext cx="4216400" cy="3170099"/>
          </a:xfrm>
          <a:prstGeom prst="rect">
            <a:avLst/>
          </a:prstGeom>
          <a:noFill/>
        </p:spPr>
        <p:txBody>
          <a:bodyPr wrap="square" rtlCol="0">
            <a:spAutoFit/>
          </a:bodyPr>
          <a:lstStyle/>
          <a:p>
            <a:r>
              <a:rPr lang="vi-VN" sz="2000" dirty="0">
                <a:latin typeface="Bahnschrift Light Condensed" panose="020B0502040204020203" pitchFamily="34" charset="0"/>
              </a:rPr>
              <a:t>Webapp sẽ hỗ trợ những format conversions phổ biến nhất </a:t>
            </a:r>
            <a:r>
              <a:rPr lang="vi-VN" sz="2000" dirty="0">
                <a:latin typeface="Bahnschrift Condensed" panose="020B0502040204020203" pitchFamily="34" charset="0"/>
              </a:rPr>
              <a:t>thuộc những thể loại chính TEXT (văn bản) AUDIO (âm thanh), IMAGE (hình ảnh) và VIDEO (đoạn phim).</a:t>
            </a:r>
          </a:p>
          <a:p>
            <a:endParaRPr lang="vi-VN" sz="2000" dirty="0">
              <a:latin typeface="Bahnschrift Condensed" panose="020B0502040204020203" pitchFamily="34" charset="0"/>
            </a:endParaRPr>
          </a:p>
          <a:p>
            <a:r>
              <a:rPr lang="vi-VN" sz="2000" dirty="0">
                <a:latin typeface="Bahnschrift Light Condensed" panose="020B0502040204020203" pitchFamily="34" charset="0"/>
              </a:rPr>
              <a:t>Ngoài ra</a:t>
            </a:r>
            <a:r>
              <a:rPr lang="vi-VN" sz="2000" dirty="0">
                <a:latin typeface="Bahnschrift Condensed" panose="020B0502040204020203" pitchFamily="34" charset="0"/>
              </a:rPr>
              <a:t>, Webapp cũng sẽ hỗ trợ Chuyển đổi chéo (MP4 to MP3),</a:t>
            </a:r>
            <a:r>
              <a:rPr lang="vi-VN" sz="2000" dirty="0">
                <a:latin typeface="Bahnschrift Light Condensed" panose="020B0502040204020203" pitchFamily="34" charset="0"/>
              </a:rPr>
              <a:t> tuy nhiên nhóm cho rằng </a:t>
            </a:r>
            <a:r>
              <a:rPr lang="vi-VN" sz="2000" dirty="0">
                <a:latin typeface="Bahnschrift Condensed" panose="020B0502040204020203" pitchFamily="34" charset="0"/>
              </a:rPr>
              <a:t>việc chuyển đổi này quá rời rạc và đơn giản </a:t>
            </a:r>
            <a:r>
              <a:rPr lang="vi-VN" sz="2000" dirty="0">
                <a:latin typeface="Bahnschrift Light Condensed" panose="020B0502040204020203" pitchFamily="34" charset="0"/>
              </a:rPr>
              <a:t>(đôi khi </a:t>
            </a:r>
            <a:r>
              <a:rPr lang="vi-VN" sz="2000" dirty="0">
                <a:latin typeface="Bahnschrift Condensed" panose="020B0502040204020203" pitchFamily="34" charset="0"/>
              </a:rPr>
              <a:t>không hề chuyển đổi, mà là tách thông tin</a:t>
            </a:r>
            <a:r>
              <a:rPr lang="vi-VN" sz="2000" dirty="0">
                <a:latin typeface="Bahnschrift Light Condensed" panose="020B0502040204020203" pitchFamily="34" charset="0"/>
              </a:rPr>
              <a:t>) nên sẽ không bao quát sâu.</a:t>
            </a:r>
            <a:endParaRPr lang="en-US" sz="2000" dirty="0">
              <a:latin typeface="Bahnschrift Light Condensed" panose="020B0502040204020203" pitchFamily="34" charset="0"/>
            </a:endParaRPr>
          </a:p>
        </p:txBody>
      </p:sp>
    </p:spTree>
    <p:extLst>
      <p:ext uri="{BB962C8B-B14F-4D97-AF65-F5344CB8AC3E}">
        <p14:creationId xmlns:p14="http://schemas.microsoft.com/office/powerpoint/2010/main" val="2728053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85A4D0BD-2355-B2D3-7842-D923DB01CFED}"/>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06</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12296775" y="119219"/>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rPr>
              <a:t>JAVASCRIPT UI HANDLERS</a:t>
            </a:r>
          </a:p>
        </p:txBody>
      </p:sp>
      <p:sp>
        <p:nvSpPr>
          <p:cNvPr id="17" name="TextBox 16">
            <a:extLst>
              <a:ext uri="{FF2B5EF4-FFF2-40B4-BE49-F238E27FC236}">
                <a16:creationId xmlns:a16="http://schemas.microsoft.com/office/drawing/2014/main" id="{CAA3639C-469F-B827-2730-0A2CDBFFAF38}"/>
              </a:ext>
            </a:extLst>
          </p:cNvPr>
          <p:cNvSpPr txBox="1"/>
          <p:nvPr/>
        </p:nvSpPr>
        <p:spPr>
          <a:xfrm>
            <a:off x="382153" y="343614"/>
            <a:ext cx="3012440" cy="2910364"/>
          </a:xfrm>
          <a:prstGeom prst="snip2DiagRect">
            <a:avLst>
              <a:gd name="adj1" fmla="val 0"/>
              <a:gd name="adj2" fmla="val 11608"/>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b="0" dirty="0">
                <a:solidFill>
                  <a:srgbClr val="FFEEAD"/>
                </a:solidFill>
                <a:effectLst/>
                <a:highlight>
                  <a:srgbClr val="808000"/>
                </a:highlight>
                <a:latin typeface="Consolas" panose="020B0609020204030204" pitchFamily="49" charset="0"/>
              </a:rPr>
              <a:t>Flask</a:t>
            </a:r>
            <a:r>
              <a:rPr lang="vi-VN" b="0" dirty="0">
                <a:solidFill>
                  <a:srgbClr val="FFEEAD"/>
                </a:solidFill>
                <a:effectLst/>
                <a:highlight>
                  <a:srgbClr val="808000"/>
                </a:highlight>
                <a:latin typeface="Consolas" panose="020B0609020204030204" pitchFamily="49" charset="0"/>
              </a:rPr>
              <a:t> </a:t>
            </a:r>
            <a:r>
              <a:rPr lang="vi-VN" b="0" dirty="0">
                <a:solidFill>
                  <a:srgbClr val="00B0F0"/>
                </a:solidFill>
                <a:effectLst/>
                <a:highlight>
                  <a:srgbClr val="808000"/>
                </a:highlight>
                <a:latin typeface="Consolas" panose="020B0609020204030204" pitchFamily="49" charset="0"/>
              </a:rPr>
              <a:t>[DOCKER]</a:t>
            </a:r>
            <a:endParaRPr lang="en-US" b="0" dirty="0">
              <a:solidFill>
                <a:srgbClr val="00B0F0"/>
              </a:solidFill>
              <a:effectLst/>
              <a:highlight>
                <a:srgbClr val="808000"/>
              </a:highlight>
              <a:latin typeface="Consolas" panose="020B0609020204030204" pitchFamily="49" charset="0"/>
            </a:endParaRPr>
          </a:p>
          <a:p>
            <a:r>
              <a:rPr lang="en-US" b="0" dirty="0" err="1">
                <a:solidFill>
                  <a:srgbClr val="FFEEAD"/>
                </a:solidFill>
                <a:effectLst/>
                <a:latin typeface="Consolas" panose="020B0609020204030204" pitchFamily="49" charset="0"/>
              </a:rPr>
              <a:t>pypandoc</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a:solidFill>
                  <a:srgbClr val="FFEEAD"/>
                </a:solidFill>
                <a:effectLst/>
                <a:latin typeface="Consolas" panose="020B0609020204030204" pitchFamily="49" charset="0"/>
              </a:rPr>
              <a:t>Pillow</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err="1">
                <a:solidFill>
                  <a:srgbClr val="FFEEAD"/>
                </a:solidFill>
                <a:effectLst/>
                <a:latin typeface="Consolas" panose="020B0609020204030204" pitchFamily="49" charset="0"/>
              </a:rPr>
              <a:t>moviepy</a:t>
            </a:r>
            <a:r>
              <a:rPr lang="vi-VN" b="0" dirty="0">
                <a:solidFill>
                  <a:srgbClr val="99FFFF"/>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err="1">
                <a:solidFill>
                  <a:srgbClr val="FFEEAD"/>
                </a:solidFill>
                <a:effectLst/>
                <a:latin typeface="Consolas" panose="020B0609020204030204" pitchFamily="49" charset="0"/>
              </a:rPr>
              <a:t>imageio</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err="1">
                <a:solidFill>
                  <a:srgbClr val="FFEEAD"/>
                </a:solidFill>
                <a:effectLst/>
                <a:latin typeface="Consolas" panose="020B0609020204030204" pitchFamily="49" charset="0"/>
              </a:rPr>
              <a:t>imageio-ffmpeg</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err="1">
                <a:solidFill>
                  <a:srgbClr val="FFEEAD"/>
                </a:solidFill>
                <a:effectLst/>
                <a:latin typeface="Consolas" panose="020B0609020204030204" pitchFamily="49" charset="0"/>
              </a:rPr>
              <a:t>werkzeug</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a:solidFill>
                  <a:srgbClr val="FFEEAD"/>
                </a:solidFill>
                <a:effectLst/>
                <a:latin typeface="Consolas" panose="020B0609020204030204" pitchFamily="49" charset="0"/>
              </a:rPr>
              <a:t>decorator</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a:p>
            <a:r>
              <a:rPr lang="en-US" b="0" dirty="0" err="1">
                <a:solidFill>
                  <a:srgbClr val="FFEEAD"/>
                </a:solidFill>
                <a:effectLst/>
                <a:latin typeface="Consolas" panose="020B0609020204030204" pitchFamily="49" charset="0"/>
              </a:rPr>
              <a:t>pdfminer.six</a:t>
            </a:r>
            <a:r>
              <a:rPr lang="vi-VN" b="0" dirty="0">
                <a:solidFill>
                  <a:srgbClr val="FFEEAD"/>
                </a:solidFill>
                <a:effectLst/>
                <a:latin typeface="Consolas" panose="020B0609020204030204" pitchFamily="49" charset="0"/>
              </a:rPr>
              <a:t> </a:t>
            </a:r>
            <a:r>
              <a:rPr lang="vi-VN" b="0" dirty="0">
                <a:solidFill>
                  <a:srgbClr val="FFFF00"/>
                </a:solidFill>
                <a:effectLst/>
                <a:latin typeface="Consolas" panose="020B0609020204030204" pitchFamily="49" charset="0"/>
              </a:rPr>
              <a:t>[PY]</a:t>
            </a:r>
            <a:endParaRPr lang="en-US" b="0" dirty="0">
              <a:solidFill>
                <a:srgbClr val="FFFF00"/>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AE5DD628-19B4-89F9-AC05-99F8BE99F5FF}"/>
              </a:ext>
            </a:extLst>
          </p:cNvPr>
          <p:cNvSpPr txBox="1"/>
          <p:nvPr/>
        </p:nvSpPr>
        <p:spPr>
          <a:xfrm>
            <a:off x="4348480" y="944880"/>
            <a:ext cx="7315198" cy="2554545"/>
          </a:xfrm>
          <a:prstGeom prst="rect">
            <a:avLst/>
          </a:prstGeom>
          <a:noFill/>
        </p:spPr>
        <p:txBody>
          <a:bodyPr wrap="square" rtlCol="0">
            <a:spAutoFit/>
          </a:bodyPr>
          <a:lstStyle/>
          <a:p>
            <a:r>
              <a:rPr lang="vi-VN" sz="2000" dirty="0">
                <a:latin typeface="Bahnschrift Light Condensed" panose="020B0502040204020203" pitchFamily="34" charset="0"/>
              </a:rPr>
              <a:t>Các thư viện được sử dụng chỉ cho </a:t>
            </a:r>
            <a:r>
              <a:rPr lang="vi-VN" sz="2000" dirty="0">
                <a:latin typeface="Bahnschrift SemiBold Condensed" panose="020B0502040204020203" pitchFamily="34" charset="0"/>
              </a:rPr>
              <a:t>mục đích Testing (Live Server) và Chuyển đổi Format.</a:t>
            </a:r>
          </a:p>
          <a:p>
            <a:endParaRPr lang="vi-VN" sz="2000" dirty="0">
              <a:latin typeface="Bahnschrift Light Condensed" panose="020B0502040204020203" pitchFamily="34" charset="0"/>
            </a:endParaRPr>
          </a:p>
          <a:p>
            <a:r>
              <a:rPr lang="vi-VN" sz="2000" dirty="0">
                <a:latin typeface="Bahnschrift Light Condensed" panose="020B0502040204020203" pitchFamily="34" charset="0"/>
              </a:rPr>
              <a:t>Nhóm sử dụng Podman Container (giống như Docker) để cài thư viện trong quá trình xây Image, nhắm </a:t>
            </a:r>
            <a:r>
              <a:rPr lang="vi-VN" sz="2000" dirty="0">
                <a:latin typeface="Bahnschrift SemiBold Condensed" panose="020B0502040204020203" pitchFamily="34" charset="0"/>
              </a:rPr>
              <a:t>giảm thiểu lỗi gây ra do tùy chỉnh hệ điều hành giữa các máy tính khác nhau,</a:t>
            </a:r>
            <a:r>
              <a:rPr lang="vi-VN" sz="2000" dirty="0">
                <a:latin typeface="Bahnschrift Light Condensed" panose="020B0502040204020203" pitchFamily="34" charset="0"/>
              </a:rPr>
              <a:t> và cũng như để thuận tiện hóa quá trình gỡ cài đặt, do các thư viện của Python thường </a:t>
            </a:r>
            <a:r>
              <a:rPr lang="vi-VN" sz="2000" dirty="0">
                <a:latin typeface="Bahnschrift SemiBold Condensed" panose="020B0502040204020203" pitchFamily="34" charset="0"/>
              </a:rPr>
              <a:t>có xu hướng để lại nhiều rác và thay đổi Register Keys của WindowsOS.</a:t>
            </a:r>
            <a:endParaRPr lang="en-US" dirty="0">
              <a:latin typeface="Bahnschrift SemiBold Condensed" panose="020B0502040204020203" pitchFamily="34" charset="0"/>
            </a:endParaRPr>
          </a:p>
        </p:txBody>
      </p:sp>
      <p:sp>
        <p:nvSpPr>
          <p:cNvPr id="21" name="TextBox 20">
            <a:extLst>
              <a:ext uri="{FF2B5EF4-FFF2-40B4-BE49-F238E27FC236}">
                <a16:creationId xmlns:a16="http://schemas.microsoft.com/office/drawing/2014/main" id="{D0AA71EA-5306-5551-8919-60C100DD2200}"/>
              </a:ext>
            </a:extLst>
          </p:cNvPr>
          <p:cNvSpPr txBox="1"/>
          <p:nvPr/>
        </p:nvSpPr>
        <p:spPr>
          <a:xfrm>
            <a:off x="382153" y="4612346"/>
            <a:ext cx="3966327" cy="1015663"/>
          </a:xfrm>
          <a:prstGeom prst="rect">
            <a:avLst/>
          </a:prstGeom>
          <a:noFill/>
        </p:spPr>
        <p:txBody>
          <a:bodyPr wrap="square" rtlCol="0">
            <a:spAutoFit/>
          </a:bodyPr>
          <a:lstStyle/>
          <a:p>
            <a:r>
              <a:rPr lang="vi-VN" sz="2000" dirty="0">
                <a:latin typeface="Bahnschrift Light Condensed" panose="020B0502040204020203" pitchFamily="34" charset="0"/>
              </a:rPr>
              <a:t>Như vậy, thư viên của Flask (Live Server) cho Podman / Docker đang được sử dụng </a:t>
            </a:r>
            <a:r>
              <a:rPr lang="vi-VN" sz="2000" dirty="0">
                <a:latin typeface="Bahnschrift SemiBold Condensed" panose="020B0502040204020203" pitchFamily="34" charset="0"/>
              </a:rPr>
              <a:t>cho mục đích kiểm thử và thuyết trình.</a:t>
            </a:r>
            <a:endParaRPr lang="en-US" dirty="0">
              <a:latin typeface="Bahnschrift SemiBold Condensed" panose="020B0502040204020203" pitchFamily="34" charset="0"/>
            </a:endParaRPr>
          </a:p>
        </p:txBody>
      </p:sp>
      <p:pic>
        <p:nvPicPr>
          <p:cNvPr id="1026" name="Picture 2" descr="Containerization of Python Flask app using Podman | by SD | Medium">
            <a:extLst>
              <a:ext uri="{FF2B5EF4-FFF2-40B4-BE49-F238E27FC236}">
                <a16:creationId xmlns:a16="http://schemas.microsoft.com/office/drawing/2014/main" id="{5DA16C6D-9609-A37A-8423-01632B2D4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216" y="3979545"/>
            <a:ext cx="2371725" cy="193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65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0E89DC6-C59F-7BA9-F98E-1897EF2AC302}"/>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07</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7433388" y="139957"/>
            <a:ext cx="449735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F8182E56-B61D-4FB9-34DE-A81C4743E5AF}"/>
              </a:ext>
            </a:extLst>
          </p:cNvPr>
          <p:cNvSpPr/>
          <p:nvPr/>
        </p:nvSpPr>
        <p:spPr>
          <a:xfrm>
            <a:off x="12296775" y="2509935"/>
            <a:ext cx="2108718"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12296775" y="119219"/>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a:t>
            </a:r>
          </a:p>
          <a:p>
            <a:pPr algn="r"/>
            <a:r>
              <a:rPr lang="vi-VN" dirty="0">
                <a:latin typeface="Bahnschrift Light Condensed" panose="020B0502040204020203" pitchFamily="34" charset="0"/>
              </a:rPr>
              <a:t>JAVASCRIPT UI HANDLERS</a:t>
            </a:r>
          </a:p>
        </p:txBody>
      </p:sp>
      <p:sp>
        <p:nvSpPr>
          <p:cNvPr id="17" name="TextBox 16">
            <a:extLst>
              <a:ext uri="{FF2B5EF4-FFF2-40B4-BE49-F238E27FC236}">
                <a16:creationId xmlns:a16="http://schemas.microsoft.com/office/drawing/2014/main" id="{CAA3639C-469F-B827-2730-0A2CDBFFAF38}"/>
              </a:ext>
            </a:extLst>
          </p:cNvPr>
          <p:cNvSpPr txBox="1"/>
          <p:nvPr/>
        </p:nvSpPr>
        <p:spPr>
          <a:xfrm>
            <a:off x="382153" y="343614"/>
            <a:ext cx="3012440" cy="2910364"/>
          </a:xfrm>
          <a:prstGeom prst="snip2DiagRect">
            <a:avLst>
              <a:gd name="adj1" fmla="val 0"/>
              <a:gd name="adj2" fmla="val 11608"/>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b="0" dirty="0">
                <a:solidFill>
                  <a:srgbClr val="FFEEAD"/>
                </a:solidFill>
                <a:effectLst/>
                <a:latin typeface="Consolas" panose="020B0609020204030204" pitchFamily="49" charset="0"/>
              </a:rPr>
              <a:t>Flask</a:t>
            </a:r>
            <a:r>
              <a:rPr lang="vi-VN" b="0" dirty="0">
                <a:solidFill>
                  <a:srgbClr val="FFEEAD"/>
                </a:solidFill>
                <a:effectLst/>
                <a:latin typeface="Consolas" panose="020B0609020204030204" pitchFamily="49" charset="0"/>
              </a:rPr>
              <a:t> </a:t>
            </a:r>
            <a:r>
              <a:rPr lang="vi-VN" b="0" dirty="0">
                <a:solidFill>
                  <a:srgbClr val="00B0F0"/>
                </a:solidFill>
                <a:effectLst/>
                <a:latin typeface="Consolas" panose="020B0609020204030204" pitchFamily="49" charset="0"/>
              </a:rPr>
              <a:t>[DOCKER]</a:t>
            </a:r>
            <a:endParaRPr lang="en-US" b="0" dirty="0">
              <a:solidFill>
                <a:srgbClr val="00B0F0"/>
              </a:solidFill>
              <a:effectLs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pypandoc</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a:solidFill>
                  <a:srgbClr val="FFEEAD"/>
                </a:solidFill>
                <a:effectLst/>
                <a:highlight>
                  <a:srgbClr val="800000"/>
                </a:highlight>
                <a:latin typeface="Consolas" panose="020B0609020204030204" pitchFamily="49" charset="0"/>
              </a:rPr>
              <a:t>Pillow</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moviepy</a:t>
            </a:r>
            <a:r>
              <a:rPr lang="vi-VN" b="0" dirty="0">
                <a:solidFill>
                  <a:srgbClr val="99FFFF"/>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imageio</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imageio-ffmpeg</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werkzeug</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a:solidFill>
                  <a:srgbClr val="FFEEAD"/>
                </a:solidFill>
                <a:effectLst/>
                <a:highlight>
                  <a:srgbClr val="800000"/>
                </a:highlight>
                <a:latin typeface="Consolas" panose="020B0609020204030204" pitchFamily="49" charset="0"/>
              </a:rPr>
              <a:t>decorator</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a:p>
            <a:r>
              <a:rPr lang="en-US" b="0" dirty="0" err="1">
                <a:solidFill>
                  <a:srgbClr val="FFEEAD"/>
                </a:solidFill>
                <a:effectLst/>
                <a:highlight>
                  <a:srgbClr val="800000"/>
                </a:highlight>
                <a:latin typeface="Consolas" panose="020B0609020204030204" pitchFamily="49" charset="0"/>
              </a:rPr>
              <a:t>pdfminer.six</a:t>
            </a:r>
            <a:r>
              <a:rPr lang="vi-VN" b="0" dirty="0">
                <a:solidFill>
                  <a:srgbClr val="FFEEAD"/>
                </a:solidFill>
                <a:effectLst/>
                <a:highlight>
                  <a:srgbClr val="800000"/>
                </a:highlight>
                <a:latin typeface="Consolas" panose="020B0609020204030204" pitchFamily="49" charset="0"/>
              </a:rPr>
              <a:t> </a:t>
            </a:r>
            <a:r>
              <a:rPr lang="vi-VN" b="0" dirty="0">
                <a:solidFill>
                  <a:srgbClr val="FFFF00"/>
                </a:solidFill>
                <a:effectLst/>
                <a:highlight>
                  <a:srgbClr val="800000"/>
                </a:highlight>
                <a:latin typeface="Consolas" panose="020B0609020204030204" pitchFamily="49" charset="0"/>
              </a:rPr>
              <a:t>[PY]</a:t>
            </a:r>
            <a:endParaRPr lang="en-US" b="0" dirty="0">
              <a:solidFill>
                <a:srgbClr val="FFFF00"/>
              </a:solidFill>
              <a:effectLst/>
              <a:highlight>
                <a:srgbClr val="800000"/>
              </a:highlight>
              <a:latin typeface="Consolas" panose="020B0609020204030204" pitchFamily="49" charset="0"/>
            </a:endParaRPr>
          </a:p>
        </p:txBody>
      </p:sp>
      <p:sp>
        <p:nvSpPr>
          <p:cNvPr id="4" name="TextBox 3">
            <a:extLst>
              <a:ext uri="{FF2B5EF4-FFF2-40B4-BE49-F238E27FC236}">
                <a16:creationId xmlns:a16="http://schemas.microsoft.com/office/drawing/2014/main" id="{BC77156E-107B-139F-5116-49F7B682D315}"/>
              </a:ext>
            </a:extLst>
          </p:cNvPr>
          <p:cNvSpPr txBox="1"/>
          <p:nvPr/>
        </p:nvSpPr>
        <p:spPr>
          <a:xfrm>
            <a:off x="3901440" y="955040"/>
            <a:ext cx="7609840" cy="1323439"/>
          </a:xfrm>
          <a:prstGeom prst="rect">
            <a:avLst/>
          </a:prstGeom>
          <a:noFill/>
        </p:spPr>
        <p:txBody>
          <a:bodyPr wrap="square" rtlCol="0">
            <a:spAutoFit/>
          </a:bodyPr>
          <a:lstStyle/>
          <a:p>
            <a:r>
              <a:rPr lang="vi-VN" sz="2000" dirty="0">
                <a:latin typeface="Bahnschrift Light Condensed" panose="020B0502040204020203" pitchFamily="34" charset="0"/>
              </a:rPr>
              <a:t>Thư viện </a:t>
            </a:r>
            <a:r>
              <a:rPr lang="vi-VN" dirty="0">
                <a:solidFill>
                  <a:srgbClr val="C00000"/>
                </a:solidFill>
                <a:latin typeface="Cascadia Code" panose="020B0609020000020004" pitchFamily="49" charset="0"/>
                <a:cs typeface="Cascadia Code" panose="020B0609020000020004" pitchFamily="49" charset="0"/>
              </a:rPr>
              <a:t>pypandoc</a:t>
            </a:r>
            <a:r>
              <a:rPr lang="vi-VN" sz="2000" dirty="0">
                <a:latin typeface="Bahnschrift Light Condensed" panose="020B0502040204020203" pitchFamily="34" charset="0"/>
              </a:rPr>
              <a:t> chuyển đổi qua lại giữa các định dạng văn bản như Word (.docx), PDF và Text (.txt),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đóng</a:t>
            </a:r>
            <a:r>
              <a:rPr kumimoji="0" lang="en-US" altLang="en-US" sz="2000" b="0" i="0" u="none" strike="noStrike" cap="none" normalizeH="0" baseline="0" dirty="0">
                <a:ln>
                  <a:noFill/>
                </a:ln>
                <a:solidFill>
                  <a:schemeClr val="tx1"/>
                </a:solidFill>
                <a:effectLst/>
                <a:latin typeface="Bahnschrift Condensed" panose="020B0502040204020203" pitchFamily="34" charset="0"/>
              </a:rPr>
              <a: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gói</a:t>
            </a:r>
            <a:r>
              <a:rPr kumimoji="0" lang="en-US" altLang="en-US" sz="2000" b="0" i="0" u="none" strike="noStrike" cap="none" normalizeH="0" baseline="0" dirty="0">
                <a:ln>
                  <a:noFill/>
                </a:ln>
                <a:solidFill>
                  <a:schemeClr val="tx1"/>
                </a:solidFill>
                <a:effectLst/>
                <a:latin typeface="Bahnschrift Condensed" panose="020B0502040204020203" pitchFamily="34" charset="0"/>
              </a:rPr>
              <a: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lại</a:t>
            </a:r>
            <a:r>
              <a:rPr kumimoji="0" lang="en-US" altLang="en-US" sz="2000" b="0" i="0" u="none" strike="noStrike" cap="none" normalizeH="0" baseline="0" dirty="0">
                <a:ln>
                  <a:noFill/>
                </a:ln>
                <a:solidFill>
                  <a:schemeClr val="tx1"/>
                </a:solidFill>
                <a:effectLst/>
                <a:latin typeface="Bahnschrift Condensed" panose="020B0502040204020203" pitchFamily="34" charset="0"/>
              </a:rPr>
              <a: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thành</a:t>
            </a:r>
            <a:r>
              <a:rPr kumimoji="0" lang="en-US" altLang="en-US" sz="2000" b="0" i="0" u="none" strike="noStrike" cap="none" normalizeH="0" baseline="0" dirty="0">
                <a:ln>
                  <a:noFill/>
                </a:ln>
                <a:solidFill>
                  <a:schemeClr val="tx1"/>
                </a:solidFill>
                <a:effectLst/>
                <a:latin typeface="Bahnschrift Condensed" panose="020B0502040204020203" pitchFamily="34" charset="0"/>
              </a:rPr>
              <a: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cấu</a:t>
            </a:r>
            <a:r>
              <a:rPr kumimoji="0" lang="en-US" altLang="en-US" sz="2000" b="0" i="0" u="none" strike="noStrike" cap="none" normalizeH="0" baseline="0" dirty="0">
                <a:ln>
                  <a:noFill/>
                </a:ln>
                <a:solidFill>
                  <a:schemeClr val="tx1"/>
                </a:solidFill>
                <a:effectLst/>
                <a:latin typeface="Bahnschrift Condensed" panose="020B0502040204020203" pitchFamily="34" charset="0"/>
              </a:rPr>
              <a:t>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trúc</a:t>
            </a:r>
            <a:r>
              <a:rPr kumimoji="0" lang="en-US" altLang="en-US" sz="2000" b="0" i="0" u="none" strike="noStrike" cap="none" normalizeH="0" baseline="0" dirty="0">
                <a:ln>
                  <a:noFill/>
                </a:ln>
                <a:solidFill>
                  <a:schemeClr val="tx1"/>
                </a:solidFill>
                <a:effectLst/>
                <a:latin typeface="Bahnschrift Condensed" panose="020B0502040204020203" pitchFamily="34" charset="0"/>
              </a:rPr>
              <a:t> XML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của</a:t>
            </a:r>
            <a:r>
              <a:rPr kumimoji="0" lang="en-US" altLang="en-US" sz="2000" b="0" i="0" u="none" strike="noStrike" cap="none" normalizeH="0" baseline="0" dirty="0">
                <a:ln>
                  <a:noFill/>
                </a:ln>
                <a:solidFill>
                  <a:schemeClr val="tx1"/>
                </a:solidFill>
                <a:effectLst/>
                <a:latin typeface="Bahnschrift Condensed" panose="020B0502040204020203" pitchFamily="34" charset="0"/>
              </a:rPr>
              <a:t> file Word (.docx) </a:t>
            </a:r>
            <a:r>
              <a:rPr kumimoji="0" lang="en-US" altLang="en-US" sz="2000" b="0" i="0" u="none" strike="noStrike" cap="none" normalizeH="0" baseline="0" dirty="0" err="1">
                <a:ln>
                  <a:noFill/>
                </a:ln>
                <a:solidFill>
                  <a:schemeClr val="tx1"/>
                </a:solidFill>
                <a:effectLst/>
                <a:latin typeface="Bahnschrift Condensed" panose="020B0502040204020203" pitchFamily="34" charset="0"/>
              </a:rPr>
              <a:t>hoặc</a:t>
            </a:r>
            <a:r>
              <a:rPr kumimoji="0" lang="en-US" altLang="en-US" sz="2000" b="0" i="0" u="none" strike="noStrike" cap="none" normalizeH="0" baseline="0" dirty="0">
                <a:ln>
                  <a:noFill/>
                </a:ln>
                <a:solidFill>
                  <a:schemeClr val="tx1"/>
                </a:solidFill>
                <a:effectLst/>
                <a:latin typeface="Bahnschrift Condensed" panose="020B0502040204020203" pitchFamily="34" charset="0"/>
              </a:rPr>
              <a:t> file </a:t>
            </a:r>
            <a:r>
              <a:rPr kumimoji="0" lang="vi-VN" altLang="en-US" sz="2000" b="0" i="0" u="none" strike="noStrike" cap="none" normalizeH="0" baseline="0" dirty="0">
                <a:ln>
                  <a:noFill/>
                </a:ln>
                <a:solidFill>
                  <a:schemeClr val="tx1"/>
                </a:solidFill>
                <a:effectLst/>
                <a:latin typeface="Bahnschrift Condensed" panose="020B0502040204020203" pitchFamily="34" charset="0"/>
              </a:rPr>
              <a:t>PDF </a:t>
            </a:r>
            <a:r>
              <a:rPr kumimoji="0" lang="vi-VN" altLang="en-US" sz="2000" b="0" i="0" u="none" strike="noStrike" cap="none" normalizeH="0" baseline="0" dirty="0">
                <a:ln>
                  <a:noFill/>
                </a:ln>
                <a:solidFill>
                  <a:schemeClr val="tx1"/>
                </a:solidFill>
                <a:effectLst/>
                <a:latin typeface="Bahnschrift Light Condensed" panose="020B0502040204020203" pitchFamily="34" charset="0"/>
              </a:rPr>
              <a:t>trong khi </a:t>
            </a:r>
            <a:r>
              <a:rPr lang="en-US" sz="2000" dirty="0" err="1">
                <a:solidFill>
                  <a:srgbClr val="C00000"/>
                </a:solidFill>
                <a:latin typeface="Cascadia Code" panose="020B0609020000020004" pitchFamily="49" charset="0"/>
                <a:cs typeface="Cascadia Code" panose="020B0609020000020004" pitchFamily="49" charset="0"/>
              </a:rPr>
              <a:t>pdfminer</a:t>
            </a:r>
            <a:r>
              <a:rPr lang="vi-VN" sz="2000" dirty="0">
                <a:latin typeface="Cascadia Code Light" panose="020B0609020000020004" pitchFamily="49" charset="0"/>
                <a:cs typeface="Cascadia Code Light" panose="020B0609020000020004" pitchFamily="49" charset="0"/>
              </a:rPr>
              <a:t> </a:t>
            </a:r>
            <a:r>
              <a:rPr lang="vi-VN" sz="2000" dirty="0">
                <a:latin typeface="Bahnschrift Condensed" panose="020B0502040204020203" pitchFamily="34" charset="0"/>
                <a:cs typeface="Cascadia Code Light" panose="020B0609020000020004" pitchFamily="49" charset="0"/>
              </a:rPr>
              <a:t>chỉ quét PDF để chuyển lại chúng thành Text Strings vì cấu trúc đóng của PDF.</a:t>
            </a:r>
            <a:endParaRPr kumimoji="0" lang="en-US"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endParaRPr>
          </a:p>
        </p:txBody>
      </p:sp>
      <p:sp>
        <p:nvSpPr>
          <p:cNvPr id="9" name="TextBox 8">
            <a:extLst>
              <a:ext uri="{FF2B5EF4-FFF2-40B4-BE49-F238E27FC236}">
                <a16:creationId xmlns:a16="http://schemas.microsoft.com/office/drawing/2014/main" id="{F5161A3F-1E43-DEF2-62B4-45116D98BA92}"/>
              </a:ext>
            </a:extLst>
          </p:cNvPr>
          <p:cNvSpPr txBox="1"/>
          <p:nvPr/>
        </p:nvSpPr>
        <p:spPr>
          <a:xfrm>
            <a:off x="382153" y="3845049"/>
            <a:ext cx="11637127" cy="707886"/>
          </a:xfrm>
          <a:prstGeom prst="rect">
            <a:avLst/>
          </a:prstGeom>
          <a:noFill/>
        </p:spPr>
        <p:txBody>
          <a:bodyPr wrap="square">
            <a:spAutoFit/>
          </a:bodyPr>
          <a:lstStyle/>
          <a:p>
            <a:r>
              <a:rPr lang="en-US" dirty="0" err="1">
                <a:solidFill>
                  <a:srgbClr val="C00000"/>
                </a:solidFill>
                <a:latin typeface="Cascadia Code" panose="020B0609020000020004" pitchFamily="49" charset="0"/>
                <a:cs typeface="Cascadia Code" panose="020B0609020000020004" pitchFamily="49" charset="0"/>
              </a:rPr>
              <a:t>MoviePy</a:t>
            </a:r>
            <a:r>
              <a:rPr lang="vi-VN" sz="2000" dirty="0">
                <a:latin typeface="Cascadia Code Light" panose="020B0609020000020004" pitchFamily="49" charset="0"/>
                <a:cs typeface="Cascadia Code Light" panose="020B0609020000020004" pitchFamily="49" charset="0"/>
              </a:rPr>
              <a:t> </a:t>
            </a:r>
            <a:r>
              <a:rPr lang="vi-VN" sz="2000" dirty="0">
                <a:latin typeface="Bahnschrift Light Condensed" panose="020B0502040204020203" pitchFamily="34" charset="0"/>
                <a:cs typeface="Cascadia Code Light" panose="020B0609020000020004" pitchFamily="49" charset="0"/>
              </a:rPr>
              <a:t>là thư viện phức tạp nhất, chứa bộ mã hóa </a:t>
            </a:r>
            <a:r>
              <a:rPr lang="vi-VN" dirty="0">
                <a:solidFill>
                  <a:srgbClr val="C00000"/>
                </a:solidFill>
                <a:latin typeface="Cascadia Code" panose="020B0609020000020004" pitchFamily="49" charset="0"/>
                <a:cs typeface="Cascadia Code" panose="020B0609020000020004" pitchFamily="49" charset="0"/>
              </a:rPr>
              <a:t>libx264</a:t>
            </a:r>
            <a:r>
              <a:rPr lang="vi-VN" dirty="0">
                <a:latin typeface="Cascadia Code" panose="020B0609020000020004" pitchFamily="49" charset="0"/>
                <a:cs typeface="Cascadia Code" panose="020B0609020000020004" pitchFamily="49" charset="0"/>
              </a:rPr>
              <a:t> </a:t>
            </a:r>
            <a:r>
              <a:rPr lang="vi-VN" sz="2000" dirty="0">
                <a:latin typeface="Bahnschrift Light Condensed" panose="020B0502040204020203" pitchFamily="34" charset="0"/>
                <a:cs typeface="Cascadia Code Light" panose="020B0609020000020004" pitchFamily="49" charset="0"/>
              </a:rPr>
              <a:t>để </a:t>
            </a:r>
            <a:r>
              <a:rPr lang="vi-VN" sz="2000" dirty="0">
                <a:latin typeface="Bahnschrift Condensed" panose="020B0502040204020203" pitchFamily="34" charset="0"/>
                <a:cs typeface="Cascadia Code Light" panose="020B0609020000020004" pitchFamily="49" charset="0"/>
              </a:rPr>
              <a:t>nén lại từng khung hình một thành định dạng video khác.</a:t>
            </a:r>
            <a:r>
              <a:rPr lang="en-US" sz="2000" dirty="0">
                <a:latin typeface="Bahnschrift Condensed" panose="020B0502040204020203" pitchFamily="34" charset="0"/>
                <a:cs typeface="Cascadia Code Light" panose="020B0609020000020004" pitchFamily="49" charset="0"/>
              </a:rPr>
              <a:t> </a:t>
            </a:r>
            <a:r>
              <a:rPr lang="vi-VN" sz="2000" dirty="0">
                <a:latin typeface="Bahnschrift Light Condensed" panose="020B0502040204020203" pitchFamily="34" charset="0"/>
                <a:cs typeface="Cascadia Code Light" panose="020B0609020000020004" pitchFamily="49" charset="0"/>
              </a:rPr>
              <a:t>Nếu tải lên là một file audio, ta có thể chỉ cần </a:t>
            </a:r>
            <a:r>
              <a:rPr lang="vi-VN" sz="2000" dirty="0">
                <a:latin typeface="Bahnschrift Condensed" panose="020B0502040204020203" pitchFamily="34" charset="0"/>
                <a:cs typeface="Cascadia Code Light" panose="020B0609020000020004" pitchFamily="49" charset="0"/>
              </a:rPr>
              <a:t>hàm AudioFileClip để chuyển đổi chỉ với audio.</a:t>
            </a:r>
            <a:endParaRPr lang="en-US" sz="2000" dirty="0">
              <a:latin typeface="Bahnschrift Condensed" panose="020B0502040204020203" pitchFamily="34" charset="0"/>
              <a:cs typeface="Cascadia Code" panose="020B0609020000020004" pitchFamily="49" charset="0"/>
            </a:endParaRPr>
          </a:p>
        </p:txBody>
      </p:sp>
      <p:sp>
        <p:nvSpPr>
          <p:cNvPr id="13" name="TextBox 12">
            <a:extLst>
              <a:ext uri="{FF2B5EF4-FFF2-40B4-BE49-F238E27FC236}">
                <a16:creationId xmlns:a16="http://schemas.microsoft.com/office/drawing/2014/main" id="{444CCF22-699E-F612-053F-059100B3F208}"/>
              </a:ext>
            </a:extLst>
          </p:cNvPr>
          <p:cNvSpPr txBox="1"/>
          <p:nvPr/>
        </p:nvSpPr>
        <p:spPr>
          <a:xfrm>
            <a:off x="3901440" y="2499796"/>
            <a:ext cx="8117840" cy="1015663"/>
          </a:xfrm>
          <a:prstGeom prst="rect">
            <a:avLst/>
          </a:prstGeom>
          <a:noFill/>
        </p:spPr>
        <p:txBody>
          <a:bodyPr wrap="square">
            <a:spAutoFit/>
          </a:bodyPr>
          <a:lstStyle/>
          <a:p>
            <a:r>
              <a:rPr lang="vi-VN" dirty="0">
                <a:solidFill>
                  <a:srgbClr val="C00000"/>
                </a:solidFill>
                <a:latin typeface="Cascadia Code" panose="020B0609020000020004" pitchFamily="49" charset="0"/>
                <a:cs typeface="Cascadia Code" panose="020B0609020000020004" pitchFamily="49" charset="0"/>
              </a:rPr>
              <a:t>Pillow</a:t>
            </a:r>
            <a:r>
              <a:rPr lang="vi-VN" dirty="0">
                <a:latin typeface="Cascadia Code" panose="020B0609020000020004" pitchFamily="49" charset="0"/>
                <a:cs typeface="Cascadia Code" panose="020B0609020000020004" pitchFamily="49" charset="0"/>
              </a:rPr>
              <a:t> </a:t>
            </a:r>
            <a:r>
              <a:rPr lang="vi-VN" sz="2000" dirty="0">
                <a:latin typeface="Bahnschrift Light Condensed" panose="020B0502040204020203" pitchFamily="34" charset="0"/>
                <a:cs typeface="Cascadia Code" panose="020B0609020000020004" pitchFamily="49" charset="0"/>
              </a:rPr>
              <a:t>hoạt động rất dễ hiểu, nó </a:t>
            </a:r>
            <a:r>
              <a:rPr lang="vi-VN" sz="2000" dirty="0">
                <a:latin typeface="Bahnschrift Condensed" panose="020B0502040204020203" pitchFamily="34" charset="0"/>
                <a:cs typeface="Cascadia Code" panose="020B0609020000020004" pitchFamily="49" charset="0"/>
              </a:rPr>
              <a:t>chỉ decode hoàn toàn ảnh được tải lên thành bits, rồi lắp ghép encode lại thành một định dạng khác. </a:t>
            </a:r>
            <a:r>
              <a:rPr lang="vi-VN" sz="2000" dirty="0">
                <a:latin typeface="Bahnschrift Light Condensed" panose="020B0502040204020203" pitchFamily="34" charset="0"/>
                <a:cs typeface="Cascadia Code" panose="020B0609020000020004" pitchFamily="49" charset="0"/>
              </a:rPr>
              <a:t>Nếu chuyển thành ảnh JPEG, nó sẽ xóa hoàn toàn kênh màu trong suốt (alpha channel).</a:t>
            </a:r>
            <a:endParaRPr lang="en-US" sz="2000" dirty="0">
              <a:latin typeface="Cascadia Code" panose="020B0609020000020004" pitchFamily="49" charset="0"/>
              <a:cs typeface="Cascadia Code" panose="020B0609020000020004" pitchFamily="49" charset="0"/>
            </a:endParaRPr>
          </a:p>
        </p:txBody>
      </p:sp>
      <p:sp>
        <p:nvSpPr>
          <p:cNvPr id="19" name="TextBox 18">
            <a:extLst>
              <a:ext uri="{FF2B5EF4-FFF2-40B4-BE49-F238E27FC236}">
                <a16:creationId xmlns:a16="http://schemas.microsoft.com/office/drawing/2014/main" id="{2EA794BC-2F63-89A2-16FD-D9538354565B}"/>
              </a:ext>
            </a:extLst>
          </p:cNvPr>
          <p:cNvSpPr txBox="1"/>
          <p:nvPr/>
        </p:nvSpPr>
        <p:spPr>
          <a:xfrm>
            <a:off x="382153" y="5228967"/>
            <a:ext cx="11548589" cy="707886"/>
          </a:xfrm>
          <a:prstGeom prst="rect">
            <a:avLst/>
          </a:prstGeom>
          <a:noFill/>
        </p:spPr>
        <p:txBody>
          <a:bodyPr wrap="square">
            <a:spAutoFit/>
          </a:bodyPr>
          <a:lstStyle/>
          <a:p>
            <a:r>
              <a:rPr lang="vi-VN" dirty="0">
                <a:latin typeface="Bahnschrift Light Condensed" panose="020B0502040204020203" pitchFamily="34" charset="0"/>
                <a:cs typeface="Cascadia Code" panose="020B0609020000020004" pitchFamily="49" charset="0"/>
              </a:rPr>
              <a:t>Cuối cùng là</a:t>
            </a:r>
            <a:r>
              <a:rPr lang="en-US" dirty="0">
                <a:latin typeface="Bahnschrift Light Condensed" panose="020B0502040204020203" pitchFamily="34" charset="0"/>
                <a:cs typeface="Cascadia Code" panose="020B0609020000020004" pitchFamily="49" charset="0"/>
              </a:rPr>
              <a:t>  </a:t>
            </a:r>
            <a:r>
              <a:rPr lang="en-US" dirty="0" err="1">
                <a:solidFill>
                  <a:srgbClr val="C00000"/>
                </a:solidFill>
                <a:latin typeface="Cascadia Code" panose="020B0609020000020004" pitchFamily="49" charset="0"/>
                <a:cs typeface="Cascadia Code" panose="020B0609020000020004" pitchFamily="49" charset="0"/>
              </a:rPr>
              <a:t>werkzeug</a:t>
            </a:r>
            <a:r>
              <a:rPr lang="en-US" sz="2000" dirty="0">
                <a:solidFill>
                  <a:srgbClr val="C00000"/>
                </a:solidFill>
                <a:latin typeface="Cascadia Code" panose="020B0609020000020004" pitchFamily="49" charset="0"/>
                <a:cs typeface="Cascadia Code" panose="020B0609020000020004" pitchFamily="49" charset="0"/>
              </a:rPr>
              <a:t>,</a:t>
            </a:r>
            <a:r>
              <a:rPr lang="vi-VN" sz="2000" dirty="0">
                <a:solidFill>
                  <a:srgbClr val="C00000"/>
                </a:solidFill>
                <a:latin typeface="Cascadia Code" panose="020B0609020000020004" pitchFamily="49" charset="0"/>
                <a:cs typeface="Cascadia Code" panose="020B0609020000020004" pitchFamily="49" charset="0"/>
              </a:rPr>
              <a:t> </a:t>
            </a:r>
            <a:r>
              <a:rPr lang="vi-VN" sz="2000" dirty="0">
                <a:latin typeface="Bahnschrift Light Condensed" panose="020B0502040204020203" pitchFamily="34" charset="0"/>
                <a:cs typeface="Cascadia Code" panose="020B0609020000020004" pitchFamily="49" charset="0"/>
              </a:rPr>
              <a:t>thư viện này đảm bảo file tải lên </a:t>
            </a:r>
            <a:r>
              <a:rPr lang="vi-VN" sz="2000" dirty="0">
                <a:latin typeface="Bahnschrift Condensed" panose="020B0502040204020203" pitchFamily="34" charset="0"/>
                <a:cs typeface="Cascadia Code" panose="020B0609020000020004" pitchFamily="49" charset="0"/>
              </a:rPr>
              <a:t>không chứa ký tự lạ nhằm tránh Inj</a:t>
            </a:r>
            <a:r>
              <a:rPr lang="en-US" sz="2000" dirty="0" err="1">
                <a:latin typeface="Bahnschrift Condensed" panose="020B0502040204020203" pitchFamily="34" charset="0"/>
                <a:cs typeface="Cascadia Code" panose="020B0609020000020004" pitchFamily="49" charset="0"/>
              </a:rPr>
              <a:t>ection</a:t>
            </a:r>
            <a:r>
              <a:rPr lang="en-US" sz="2000" dirty="0">
                <a:latin typeface="Bahnschrift Condensed" panose="020B0502040204020203" pitchFamily="34" charset="0"/>
                <a:cs typeface="Cascadia Code" panose="020B0609020000020004" pitchFamily="49" charset="0"/>
              </a:rPr>
              <a:t> </a:t>
            </a:r>
            <a:r>
              <a:rPr lang="vi-VN" sz="2000" dirty="0">
                <a:latin typeface="Bahnschrift Condensed" panose="020B0502040204020203" pitchFamily="34" charset="0"/>
                <a:cs typeface="Cascadia Code" panose="020B0609020000020004" pitchFamily="49" charset="0"/>
              </a:rPr>
              <a:t>Attack cho Backend</a:t>
            </a:r>
            <a:r>
              <a:rPr lang="en-US" sz="2000" dirty="0">
                <a:latin typeface="Bahnschrift Condensed" panose="020B0502040204020203" pitchFamily="34" charset="0"/>
                <a:cs typeface="Cascadia Code" panose="020B0609020000020004" pitchFamily="49" charset="0"/>
              </a:rPr>
              <a:t> </a:t>
            </a:r>
            <a:r>
              <a:rPr lang="en-US" sz="2000" dirty="0">
                <a:latin typeface="Bahnschrift Light Condensed" panose="020B0502040204020203" pitchFamily="34" charset="0"/>
                <a:cs typeface="Cascadia Code" panose="020B0609020000020004" pitchFamily="49" charset="0"/>
              </a:rPr>
              <a:t>qua </a:t>
            </a:r>
            <a:r>
              <a:rPr lang="vi-VN" sz="2000" dirty="0">
                <a:latin typeface="Bahnschrift Light Condensed" panose="020B0502040204020203" pitchFamily="34" charset="0"/>
                <a:cs typeface="Cascadia Code" panose="020B0609020000020004" pitchFamily="49" charset="0"/>
              </a:rPr>
              <a:t>hàm làm sạch file </a:t>
            </a:r>
            <a:r>
              <a:rPr lang="en-US" sz="2000" dirty="0">
                <a:solidFill>
                  <a:srgbClr val="C00000"/>
                </a:solidFill>
                <a:latin typeface="Cascadia Code" panose="020B0609020000020004" pitchFamily="49" charset="0"/>
                <a:cs typeface="Cascadia Code" panose="020B0609020000020004" pitchFamily="49" charset="0"/>
              </a:rPr>
              <a:t>filename = </a:t>
            </a:r>
            <a:r>
              <a:rPr lang="en-US" sz="2000" dirty="0" err="1">
                <a:solidFill>
                  <a:srgbClr val="C00000"/>
                </a:solidFill>
                <a:latin typeface="Cascadia Code" panose="020B0609020000020004" pitchFamily="49" charset="0"/>
                <a:cs typeface="Cascadia Code" panose="020B0609020000020004" pitchFamily="49" charset="0"/>
              </a:rPr>
              <a:t>secure_filename</a:t>
            </a:r>
            <a:r>
              <a:rPr lang="en-US" sz="2000" dirty="0">
                <a:solidFill>
                  <a:srgbClr val="C00000"/>
                </a:solidFill>
                <a:latin typeface="Cascadia Code" panose="020B0609020000020004" pitchFamily="49" charset="0"/>
                <a:cs typeface="Cascadia Code" panose="020B0609020000020004" pitchFamily="49" charset="0"/>
              </a:rPr>
              <a:t>(</a:t>
            </a:r>
            <a:r>
              <a:rPr lang="en-US" sz="2000" dirty="0" err="1">
                <a:solidFill>
                  <a:srgbClr val="C00000"/>
                </a:solidFill>
                <a:latin typeface="Cascadia Code" panose="020B0609020000020004" pitchFamily="49" charset="0"/>
                <a:cs typeface="Cascadia Code" panose="020B0609020000020004" pitchFamily="49" charset="0"/>
              </a:rPr>
              <a:t>file.filename</a:t>
            </a:r>
            <a:r>
              <a:rPr lang="en-US" sz="2000" dirty="0">
                <a:solidFill>
                  <a:srgbClr val="C00000"/>
                </a:solidFill>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3438649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C1ED16B-1B01-3CE6-665E-D988FE148403}"/>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08</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11754978"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8898657" y="162684"/>
            <a:ext cx="2911190" cy="646331"/>
          </a:xfrm>
          <a:prstGeom prst="rect">
            <a:avLst/>
          </a:prstGeom>
          <a:noFill/>
        </p:spPr>
        <p:txBody>
          <a:bodyPr wrap="square" rtlCol="0">
            <a:spAutoFit/>
          </a:bodyPr>
          <a:lstStyle/>
          <a:p>
            <a:pPr algn="r"/>
            <a:r>
              <a:rPr lang="vi-VN" b="1" dirty="0">
                <a:latin typeface="Bahnschrift Condensed" panose="020B0502040204020203" pitchFamily="34" charset="0"/>
              </a:rPr>
              <a:t>PHẦN III</a:t>
            </a:r>
          </a:p>
          <a:p>
            <a:pPr algn="r"/>
            <a:r>
              <a:rPr lang="vi-VN" dirty="0">
                <a:latin typeface="Bahnschrift Light Condensed" panose="020B0502040204020203" pitchFamily="34" charset="0"/>
              </a:rPr>
              <a:t>QUY TRÌNH THAO TÁC: CLIENTS</a:t>
            </a:r>
          </a:p>
        </p:txBody>
      </p:sp>
      <p:pic>
        <p:nvPicPr>
          <p:cNvPr id="11" name="Picture 10">
            <a:extLst>
              <a:ext uri="{FF2B5EF4-FFF2-40B4-BE49-F238E27FC236}">
                <a16:creationId xmlns:a16="http://schemas.microsoft.com/office/drawing/2014/main" id="{036A9C8D-589B-FD92-0BD4-977BB8A758F9}"/>
              </a:ext>
            </a:extLst>
          </p:cNvPr>
          <p:cNvPicPr>
            <a:picLocks noChangeAspect="1"/>
          </p:cNvPicPr>
          <p:nvPr/>
        </p:nvPicPr>
        <p:blipFill>
          <a:blip r:embed="rId3"/>
          <a:stretch>
            <a:fillRect/>
          </a:stretch>
        </p:blipFill>
        <p:spPr>
          <a:xfrm>
            <a:off x="681796" y="935351"/>
            <a:ext cx="2781688" cy="4601217"/>
          </a:xfrm>
          <a:prstGeom prst="roundRect">
            <a:avLst>
              <a:gd name="adj" fmla="val 8997"/>
            </a:avLst>
          </a:prstGeom>
          <a:effectLst>
            <a:reflection blurRad="6350" stA="50000" endA="275" endPos="40000" dist="101600" dir="5400000" sy="-100000" algn="bl" rotWithShape="0"/>
          </a:effectLst>
        </p:spPr>
      </p:pic>
      <p:sp>
        <p:nvSpPr>
          <p:cNvPr id="14" name="TextBox 13">
            <a:extLst>
              <a:ext uri="{FF2B5EF4-FFF2-40B4-BE49-F238E27FC236}">
                <a16:creationId xmlns:a16="http://schemas.microsoft.com/office/drawing/2014/main" id="{45466F95-8851-2678-DC9C-99E36D4D8370}"/>
              </a:ext>
            </a:extLst>
          </p:cNvPr>
          <p:cNvSpPr txBox="1"/>
          <p:nvPr/>
        </p:nvSpPr>
        <p:spPr>
          <a:xfrm>
            <a:off x="3901440" y="955040"/>
            <a:ext cx="7609840" cy="1938992"/>
          </a:xfrm>
          <a:prstGeom prst="rect">
            <a:avLst/>
          </a:prstGeom>
          <a:noFill/>
        </p:spPr>
        <p:txBody>
          <a:bodyPr wrap="square" rtlCol="0">
            <a:spAutoFit/>
          </a:bodyPr>
          <a:lstStyle/>
          <a:p>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Thao tác của User cực kỳ đơn giản, chỉ cần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trực tiếp truy cập Webapp, nhấn “chuyển đổi” trên tab Menu chính.</a:t>
            </a:r>
          </a:p>
          <a:p>
            <a:endParaRPr lang="vi-VN" altLang="en-US" sz="2000" dirty="0">
              <a:latin typeface="Bahnschrift Light Condensed" panose="020B0502040204020203" pitchFamily="34" charset="0"/>
              <a:cs typeface="Cascadia Code Light" panose="020B0609020000020004" pitchFamily="49" charset="0"/>
            </a:endParaRPr>
          </a:p>
          <a:p>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Qua hộp thoại </a:t>
            </a:r>
            <a:r>
              <a:rPr kumimoji="0" lang="vi-VN" altLang="en-US" sz="2000" b="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Chuyển đổi </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hiện lên, User có thể tải lên tập tin ngay lập tức. Javascript sẽ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trigger một hộp lựa chọn Combo Box chứa các format có thể chuyển đổi được từ định dạng file đã tải lên.</a:t>
            </a:r>
            <a:endParaRPr kumimoji="0" lang="en-US"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endParaRPr>
          </a:p>
        </p:txBody>
      </p:sp>
      <p:pic>
        <p:nvPicPr>
          <p:cNvPr id="5" name="Picture 4">
            <a:extLst>
              <a:ext uri="{FF2B5EF4-FFF2-40B4-BE49-F238E27FC236}">
                <a16:creationId xmlns:a16="http://schemas.microsoft.com/office/drawing/2014/main" id="{2D573C7B-C6EA-4ABA-71E9-65B39BED583E}"/>
              </a:ext>
            </a:extLst>
          </p:cNvPr>
          <p:cNvPicPr>
            <a:picLocks noChangeAspect="1"/>
          </p:cNvPicPr>
          <p:nvPr/>
        </p:nvPicPr>
        <p:blipFill>
          <a:blip r:embed="rId4"/>
          <a:stretch>
            <a:fillRect/>
          </a:stretch>
        </p:blipFill>
        <p:spPr>
          <a:xfrm>
            <a:off x="2714081" y="3782529"/>
            <a:ext cx="3248478" cy="2381582"/>
          </a:xfrm>
          <a:prstGeom prst="roundRect">
            <a:avLst>
              <a:gd name="adj" fmla="val 8561"/>
            </a:avLst>
          </a:prstGeom>
          <a:effectLst>
            <a:reflection blurRad="6350" stA="50000" endA="275" endPos="40000" dist="101600" dir="5400000" sy="-100000" algn="bl" rotWithShape="0"/>
          </a:effectLst>
        </p:spPr>
      </p:pic>
    </p:spTree>
    <p:extLst>
      <p:ext uri="{BB962C8B-B14F-4D97-AF65-F5344CB8AC3E}">
        <p14:creationId xmlns:p14="http://schemas.microsoft.com/office/powerpoint/2010/main" val="784522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5EBDFFB-5755-DAC0-4722-6325123A3334}"/>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09</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11754978"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8898657" y="162684"/>
            <a:ext cx="2911190" cy="646331"/>
          </a:xfrm>
          <a:prstGeom prst="rect">
            <a:avLst/>
          </a:prstGeom>
          <a:noFill/>
        </p:spPr>
        <p:txBody>
          <a:bodyPr wrap="square" rtlCol="0">
            <a:spAutoFit/>
          </a:bodyPr>
          <a:lstStyle/>
          <a:p>
            <a:pPr algn="r"/>
            <a:r>
              <a:rPr lang="vi-VN" b="1" dirty="0">
                <a:latin typeface="Bahnschrift Condensed" panose="020B0502040204020203" pitchFamily="34" charset="0"/>
              </a:rPr>
              <a:t>PHẦN III</a:t>
            </a:r>
          </a:p>
          <a:p>
            <a:pPr algn="r"/>
            <a:r>
              <a:rPr lang="vi-VN" dirty="0">
                <a:latin typeface="Bahnschrift Light Condensed" panose="020B0502040204020203" pitchFamily="34" charset="0"/>
              </a:rPr>
              <a:t>QUY TRÌNH THAO TÁC: CLIENTS</a:t>
            </a:r>
          </a:p>
        </p:txBody>
      </p:sp>
      <p:sp>
        <p:nvSpPr>
          <p:cNvPr id="14" name="TextBox 13">
            <a:extLst>
              <a:ext uri="{FF2B5EF4-FFF2-40B4-BE49-F238E27FC236}">
                <a16:creationId xmlns:a16="http://schemas.microsoft.com/office/drawing/2014/main" id="{45466F95-8851-2678-DC9C-99E36D4D8370}"/>
              </a:ext>
            </a:extLst>
          </p:cNvPr>
          <p:cNvSpPr txBox="1"/>
          <p:nvPr/>
        </p:nvSpPr>
        <p:spPr>
          <a:xfrm>
            <a:off x="355600" y="5485214"/>
            <a:ext cx="7609840" cy="707886"/>
          </a:xfrm>
          <a:prstGeom prst="rect">
            <a:avLst/>
          </a:prstGeom>
          <a:noFill/>
        </p:spPr>
        <p:txBody>
          <a:bodyPr wrap="square" rtlCol="0">
            <a:spAutoFit/>
          </a:bodyPr>
          <a:lstStyle/>
          <a:p>
            <a:r>
              <a:rPr kumimoji="0" lang="en-US"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Sau</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 đó, nhấn Bắt đầu. File sẽ được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gửi về Backend để Python thao tác</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 cuối cùng sẽ được tải về máy Client sớm nhất có thể khi được chuyển đổi xong.</a:t>
            </a:r>
            <a:endParaRPr kumimoji="0" lang="en-US"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endParaRPr>
          </a:p>
        </p:txBody>
      </p:sp>
      <p:pic>
        <p:nvPicPr>
          <p:cNvPr id="7" name="Picture 6">
            <a:extLst>
              <a:ext uri="{FF2B5EF4-FFF2-40B4-BE49-F238E27FC236}">
                <a16:creationId xmlns:a16="http://schemas.microsoft.com/office/drawing/2014/main" id="{D0D75228-2822-D596-D32F-0287C64F8865}"/>
              </a:ext>
            </a:extLst>
          </p:cNvPr>
          <p:cNvPicPr>
            <a:picLocks noChangeAspect="1"/>
          </p:cNvPicPr>
          <p:nvPr/>
        </p:nvPicPr>
        <p:blipFill>
          <a:blip r:embed="rId3"/>
          <a:stretch>
            <a:fillRect/>
          </a:stretch>
        </p:blipFill>
        <p:spPr>
          <a:xfrm>
            <a:off x="1965069" y="1405927"/>
            <a:ext cx="8261861" cy="2208016"/>
          </a:xfrm>
          <a:prstGeom prst="roundRect">
            <a:avLst>
              <a:gd name="adj" fmla="val 7464"/>
            </a:avLst>
          </a:prstGeom>
          <a:effectLst>
            <a:reflection blurRad="6350" stA="50000" endA="275" endPos="40000" dist="101600" dir="5400000" sy="-100000" algn="bl" rotWithShape="0"/>
          </a:effectLst>
        </p:spPr>
      </p:pic>
    </p:spTree>
    <p:extLst>
      <p:ext uri="{BB962C8B-B14F-4D97-AF65-F5344CB8AC3E}">
        <p14:creationId xmlns:p14="http://schemas.microsoft.com/office/powerpoint/2010/main" val="1240947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5755350-C3CB-20D0-6303-2DE6B0AA661E}"/>
              </a:ext>
            </a:extLst>
          </p:cNvPr>
          <p:cNvSpPr txBox="1"/>
          <p:nvPr/>
        </p:nvSpPr>
        <p:spPr>
          <a:xfrm>
            <a:off x="11754978"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8898657" y="162684"/>
            <a:ext cx="2911190" cy="646331"/>
          </a:xfrm>
          <a:prstGeom prst="rect">
            <a:avLst/>
          </a:prstGeom>
          <a:noFill/>
        </p:spPr>
        <p:txBody>
          <a:bodyPr wrap="square" rtlCol="0">
            <a:spAutoFit/>
          </a:bodyPr>
          <a:lstStyle/>
          <a:p>
            <a:pPr algn="r"/>
            <a:r>
              <a:rPr lang="vi-VN" b="1" dirty="0">
                <a:latin typeface="Bahnschrift Condensed" panose="020B0502040204020203" pitchFamily="34" charset="0"/>
              </a:rPr>
              <a:t>PHẦN III</a:t>
            </a:r>
          </a:p>
          <a:p>
            <a:pPr algn="r"/>
            <a:r>
              <a:rPr lang="vi-VN" dirty="0">
                <a:latin typeface="Bahnschrift Light Condensed" panose="020B0502040204020203" pitchFamily="34" charset="0"/>
              </a:rPr>
              <a:t>QUY TRÌNH THAO TÁC: SERVER</a:t>
            </a:r>
          </a:p>
        </p:txBody>
      </p:sp>
      <p:sp>
        <p:nvSpPr>
          <p:cNvPr id="13" name="TextBox 12">
            <a:extLst>
              <a:ext uri="{FF2B5EF4-FFF2-40B4-BE49-F238E27FC236}">
                <a16:creationId xmlns:a16="http://schemas.microsoft.com/office/drawing/2014/main" id="{45E09168-B406-B0F6-5FB0-EA367297F8BD}"/>
              </a:ext>
            </a:extLst>
          </p:cNvPr>
          <p:cNvSpPr txBox="1"/>
          <p:nvPr/>
        </p:nvSpPr>
        <p:spPr>
          <a:xfrm>
            <a:off x="0" y="3617196"/>
            <a:ext cx="3771072" cy="3770263"/>
          </a:xfrm>
          <a:prstGeom prst="rect">
            <a:avLst/>
          </a:prstGeom>
          <a:noFill/>
          <a:ln>
            <a:noFill/>
          </a:ln>
          <a:effectLst/>
        </p:spPr>
        <p:txBody>
          <a:bodyPr wrap="square" rtlCol="0">
            <a:spAutoFit/>
          </a:bodyPr>
          <a:lstStyle/>
          <a:p>
            <a:r>
              <a:rPr lang="vi-VN" sz="23900" dirty="0">
                <a:solidFill>
                  <a:schemeClr val="bg1">
                    <a:lumMod val="95000"/>
                  </a:schemeClr>
                </a:solidFill>
                <a:latin typeface="Bahnschrift Condensed" panose="020B0502040204020203" pitchFamily="34" charset="0"/>
              </a:rPr>
              <a:t>10</a:t>
            </a:r>
            <a:endParaRPr lang="en-US" sz="23900" dirty="0">
              <a:solidFill>
                <a:schemeClr val="bg1">
                  <a:lumMod val="95000"/>
                </a:schemeClr>
              </a:solidFill>
              <a:latin typeface="Bahnschrift Condensed" panose="020B0502040204020203" pitchFamily="34" charset="0"/>
            </a:endParaRPr>
          </a:p>
        </p:txBody>
      </p:sp>
      <p:sp>
        <p:nvSpPr>
          <p:cNvPr id="9" name="TextBox 8">
            <a:extLst>
              <a:ext uri="{FF2B5EF4-FFF2-40B4-BE49-F238E27FC236}">
                <a16:creationId xmlns:a16="http://schemas.microsoft.com/office/drawing/2014/main" id="{83C09342-3CE0-5393-A888-70CF65E1BC45}"/>
              </a:ext>
            </a:extLst>
          </p:cNvPr>
          <p:cNvSpPr txBox="1"/>
          <p:nvPr/>
        </p:nvSpPr>
        <p:spPr>
          <a:xfrm>
            <a:off x="280553" y="2410717"/>
            <a:ext cx="11630894" cy="3966924"/>
          </a:xfrm>
          <a:prstGeom prst="snip2Diag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with</a:t>
            </a:r>
            <a:r>
              <a:rPr lang="en-US" sz="1400" b="0" dirty="0">
                <a:solidFill>
                  <a:srgbClr val="FFFFFF"/>
                </a:solidFill>
                <a:effectLst/>
                <a:latin typeface="Consolas" panose="020B0609020204030204" pitchFamily="49" charset="0"/>
              </a:rPr>
              <a:t> </a:t>
            </a:r>
            <a:r>
              <a:rPr lang="en-US" sz="1400" b="0" dirty="0" err="1">
                <a:solidFill>
                  <a:srgbClr val="BBDAFF"/>
                </a:solidFill>
                <a:effectLst/>
                <a:latin typeface="Consolas" panose="020B0609020204030204" pitchFamily="49" charset="0"/>
              </a:rPr>
              <a:t>temp_file</a:t>
            </a:r>
            <a:r>
              <a:rPr lang="en-US" sz="1400" b="0" dirty="0">
                <a:solidFill>
                  <a:srgbClr val="BBDAF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input_path</a:t>
            </a:r>
            <a:r>
              <a:rPr lang="en-US" sz="1400" b="0" dirty="0">
                <a:solidFill>
                  <a:srgbClr val="BBDAFF"/>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err="1">
                <a:solidFill>
                  <a:srgbClr val="BBDAFF"/>
                </a:solidFill>
                <a:effectLst/>
                <a:latin typeface="Consolas" panose="020B0609020204030204" pitchFamily="49" charset="0"/>
              </a:rPr>
              <a:t>temp_file</a:t>
            </a:r>
            <a:r>
              <a:rPr lang="en-US" sz="1400" b="0" dirty="0">
                <a:solidFill>
                  <a:srgbClr val="BBDAF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output_path</a:t>
            </a:r>
            <a:r>
              <a:rPr lang="en-US" sz="1400" b="0" dirty="0">
                <a:solidFill>
                  <a:srgbClr val="BBDAFF"/>
                </a:solidFill>
                <a:effectLst/>
                <a:latin typeface="Consolas" panose="020B0609020204030204" pitchFamily="49" charset="0"/>
              </a:rPr>
              <a:t>)</a:t>
            </a:r>
            <a:r>
              <a:rPr lang="en-US" sz="1400" b="0" dirty="0">
                <a:solidFill>
                  <a:srgbClr val="FFFFFF"/>
                </a:solidFill>
                <a:effectLst/>
                <a:latin typeface="Consolas" panose="020B0609020204030204" pitchFamily="49" charset="0"/>
              </a:rPr>
              <a:t>:</a:t>
            </a:r>
          </a:p>
          <a:p>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 </a:t>
            </a:r>
            <a:r>
              <a:rPr lang="en-US" sz="1400" b="0" dirty="0" err="1">
                <a:solidFill>
                  <a:srgbClr val="7285B7"/>
                </a:solidFill>
                <a:effectLst/>
                <a:latin typeface="Consolas" panose="020B0609020204030204" pitchFamily="49" charset="0"/>
              </a:rPr>
              <a:t>ảnh</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if</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png</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'jpg'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'jpeg'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webp</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and</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target_ext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png</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'jpg'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'jpeg'</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webp</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 video</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err="1">
                <a:solidFill>
                  <a:srgbClr val="EBBBFF"/>
                </a:solidFill>
                <a:effectLst/>
                <a:latin typeface="Consolas" panose="020B0609020204030204" pitchFamily="49" charset="0"/>
              </a:rPr>
              <a:t>elif</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'mp4'</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'mov'</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and</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target_ext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'mp4'</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'mov'</a:t>
            </a:r>
            <a:r>
              <a:rPr lang="en-US" sz="1400" b="0" dirty="0">
                <a:solidFill>
                  <a:srgbClr val="FFFFFF"/>
                </a:solidFill>
                <a:effectLst/>
                <a:latin typeface="Consolas" panose="020B0609020204030204" pitchFamily="49" charset="0"/>
              </a:rPr>
              <a:t>}:</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 </a:t>
            </a:r>
            <a:r>
              <a:rPr lang="en-US" sz="1400" b="0" dirty="0" err="1">
                <a:solidFill>
                  <a:srgbClr val="7285B7"/>
                </a:solidFill>
                <a:effectLst/>
                <a:latin typeface="Consolas" panose="020B0609020204030204" pitchFamily="49" charset="0"/>
              </a:rPr>
              <a:t>tách</a:t>
            </a:r>
            <a:r>
              <a:rPr lang="en-US" sz="1400" b="0" dirty="0">
                <a:solidFill>
                  <a:srgbClr val="7285B7"/>
                </a:solidFill>
                <a:effectLst/>
                <a:latin typeface="Consolas" panose="020B0609020204030204" pitchFamily="49" charset="0"/>
              </a:rPr>
              <a:t> audio</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err="1">
                <a:solidFill>
                  <a:srgbClr val="EBBBFF"/>
                </a:solidFill>
                <a:effectLst/>
                <a:latin typeface="Consolas" panose="020B0609020204030204" pitchFamily="49" charset="0"/>
              </a:rPr>
              <a:t>elif</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'mp4'</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'mov'</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and</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target_ext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'mp3'</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'wav'</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aac</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 audio</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err="1">
                <a:solidFill>
                  <a:srgbClr val="EBBBFF"/>
                </a:solidFill>
                <a:effectLst/>
                <a:latin typeface="Consolas" panose="020B0609020204030204" pitchFamily="49" charset="0"/>
              </a:rPr>
              <a:t>elif</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'mp3'</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'wav'</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aac</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and</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target_ext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'mp3'</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'wav'</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a:t>
            </a:r>
            <a:r>
              <a:rPr lang="en-US" sz="1400" b="0" dirty="0" err="1">
                <a:solidFill>
                  <a:srgbClr val="D1F1A9"/>
                </a:solidFill>
                <a:effectLst/>
                <a:latin typeface="Consolas" panose="020B0609020204030204" pitchFamily="49" charset="0"/>
              </a:rPr>
              <a:t>aac</a:t>
            </a:r>
            <a:r>
              <a:rPr lang="en-US" sz="1400" b="0" dirty="0">
                <a:solidFill>
                  <a:srgbClr val="D1F1A9"/>
                </a:solidFill>
                <a:effectLst/>
                <a:latin typeface="Consolas" panose="020B0609020204030204" pitchFamily="49" charset="0"/>
              </a:rPr>
              <a:t>'</a:t>
            </a:r>
            <a:r>
              <a:rPr lang="en-US" sz="1400" b="0" dirty="0">
                <a:solidFill>
                  <a:srgbClr val="FFFFFF"/>
                </a:solidFill>
                <a:effectLst/>
                <a:latin typeface="Consolas" panose="020B0609020204030204" pitchFamily="49" charset="0"/>
              </a:rPr>
              <a:t>}:</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 text</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err="1">
                <a:solidFill>
                  <a:srgbClr val="EBBBFF"/>
                </a:solidFill>
                <a:effectLst/>
                <a:latin typeface="Consolas" panose="020B0609020204030204" pitchFamily="49" charset="0"/>
              </a:rPr>
              <a:t>elif</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'txt'</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'docx'</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'pdf'</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and</a:t>
            </a:r>
            <a:r>
              <a:rPr lang="en-US" sz="1400" b="0" dirty="0">
                <a:solidFill>
                  <a:srgbClr val="FFFFFF"/>
                </a:solidFill>
                <a:effectLst/>
                <a:latin typeface="Consolas" panose="020B0609020204030204" pitchFamily="49" charset="0"/>
              </a:rPr>
              <a:t> </a:t>
            </a:r>
            <a:r>
              <a:rPr lang="en-US" sz="1400" b="0" dirty="0" err="1">
                <a:solidFill>
                  <a:srgbClr val="FFFFFF"/>
                </a:solidFill>
                <a:effectLst/>
                <a:latin typeface="Consolas" panose="020B0609020204030204" pitchFamily="49" charset="0"/>
              </a:rPr>
              <a:t>target_ext</a:t>
            </a:r>
            <a:r>
              <a:rPr lang="en-US" sz="1400" b="0" dirty="0">
                <a:solidFill>
                  <a:srgbClr val="FFFFFF"/>
                </a:solidFill>
                <a:effectLst/>
                <a:latin typeface="Consolas" panose="020B0609020204030204" pitchFamily="49" charset="0"/>
              </a:rPr>
              <a:t> </a:t>
            </a:r>
            <a:r>
              <a:rPr lang="en-US" sz="1400" b="0" dirty="0">
                <a:solidFill>
                  <a:srgbClr val="99FFFF"/>
                </a:solidFill>
                <a:effectLst/>
                <a:latin typeface="Consolas" panose="020B0609020204030204" pitchFamily="49" charset="0"/>
              </a:rPr>
              <a:t>in</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'txt'</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'docx'</a:t>
            </a:r>
            <a:r>
              <a:rPr lang="en-US" sz="1400" b="0" dirty="0">
                <a:solidFill>
                  <a:srgbClr val="FFFFFF"/>
                </a:solidFill>
                <a:effectLst/>
                <a:latin typeface="Consolas" panose="020B0609020204030204" pitchFamily="49" charset="0"/>
              </a:rPr>
              <a:t>, </a:t>
            </a:r>
            <a:r>
              <a:rPr lang="en-US" sz="1400" b="0" dirty="0">
                <a:solidFill>
                  <a:srgbClr val="D1F1A9"/>
                </a:solidFill>
                <a:effectLst/>
                <a:latin typeface="Consolas" panose="020B0609020204030204" pitchFamily="49" charset="0"/>
              </a:rPr>
              <a:t>'pdf'</a:t>
            </a:r>
            <a:r>
              <a:rPr lang="en-US" sz="1400" b="0" dirty="0">
                <a:solidFill>
                  <a:srgbClr val="FFFFFF"/>
                </a:solidFill>
                <a:effectLst/>
                <a:latin typeface="Consolas" panose="020B0609020204030204" pitchFamily="49" charset="0"/>
              </a:rPr>
              <a:t>}:</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7285B7"/>
                </a:solidFill>
                <a:effectLst/>
                <a:latin typeface="Consolas" panose="020B0609020204030204" pitchFamily="49" charset="0"/>
              </a:rPr>
              <a:t>#lỗi</a:t>
            </a:r>
            <a:endParaRPr lang="en-US" sz="1400" b="0" dirty="0">
              <a:solidFill>
                <a:srgbClr val="FFFFFF"/>
              </a:solidFill>
              <a:effectLst/>
              <a:latin typeface="Consolas" panose="020B0609020204030204" pitchFamily="49" charset="0"/>
            </a:endParaRPr>
          </a:p>
          <a:p>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else</a:t>
            </a:r>
            <a:r>
              <a:rPr lang="en-US" sz="1400" b="0" dirty="0">
                <a:solidFill>
                  <a:srgbClr val="FFFFFF"/>
                </a:solidFill>
                <a:effectLst/>
                <a:latin typeface="Consolas" panose="020B0609020204030204" pitchFamily="49" charset="0"/>
              </a:rPr>
              <a:t>:</a:t>
            </a:r>
          </a:p>
          <a:p>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return</a:t>
            </a:r>
            <a:r>
              <a:rPr lang="en-US" sz="1400" b="0" dirty="0">
                <a:solidFill>
                  <a:srgbClr val="FFFFFF"/>
                </a:solidFill>
                <a:effectLst/>
                <a:latin typeface="Consolas" panose="020B0609020204030204" pitchFamily="49" charset="0"/>
              </a:rPr>
              <a:t> </a:t>
            </a:r>
            <a:r>
              <a:rPr lang="en-US" sz="1400" b="0" dirty="0" err="1">
                <a:solidFill>
                  <a:srgbClr val="BBDAFF"/>
                </a:solidFill>
                <a:effectLst/>
                <a:latin typeface="Consolas" panose="020B0609020204030204" pitchFamily="49" charset="0"/>
              </a:rPr>
              <a:t>jsonify</a:t>
            </a:r>
            <a:r>
              <a:rPr lang="en-US" sz="1400" b="0" dirty="0">
                <a:solidFill>
                  <a:srgbClr val="BBDAFF"/>
                </a:solidFill>
                <a:effectLst/>
                <a:latin typeface="Consolas" panose="020B0609020204030204" pitchFamily="49" charset="0"/>
              </a:rPr>
              <a:t>({</a:t>
            </a:r>
            <a:r>
              <a:rPr lang="en-US" sz="1400" b="0" dirty="0">
                <a:solidFill>
                  <a:srgbClr val="D1F1A9"/>
                </a:solidFill>
                <a:effectLst/>
                <a:latin typeface="Consolas" panose="020B0609020204030204" pitchFamily="49" charset="0"/>
              </a:rPr>
              <a:t>"error"</a:t>
            </a:r>
            <a:r>
              <a:rPr lang="en-US" sz="1400" b="0" dirty="0">
                <a:solidFill>
                  <a:srgbClr val="BBDAFF"/>
                </a:solidFill>
                <a:effectLst/>
                <a:latin typeface="Consolas" panose="020B0609020204030204" pitchFamily="49" charset="0"/>
              </a:rPr>
              <a:t>: </a:t>
            </a:r>
            <a:r>
              <a:rPr lang="en-US" sz="1400" b="0" dirty="0" err="1">
                <a:solidFill>
                  <a:srgbClr val="EBBBFF"/>
                </a:solidFill>
                <a:effectLst/>
                <a:latin typeface="Consolas" panose="020B0609020204030204" pitchFamily="49" charset="0"/>
              </a:rPr>
              <a:t>f</a:t>
            </a:r>
            <a:r>
              <a:rPr lang="en-US" sz="1400" b="0" dirty="0" err="1">
                <a:solidFill>
                  <a:srgbClr val="D1F1A9"/>
                </a:solidFill>
                <a:effectLst/>
                <a:latin typeface="Consolas" panose="020B0609020204030204" pitchFamily="49" charset="0"/>
              </a:rPr>
              <a:t>"Conversion</a:t>
            </a:r>
            <a:r>
              <a:rPr lang="en-US" sz="1400" b="0" dirty="0">
                <a:solidFill>
                  <a:srgbClr val="D1F1A9"/>
                </a:solidFill>
                <a:effectLst/>
                <a:latin typeface="Consolas" panose="020B0609020204030204" pitchFamily="49" charset="0"/>
              </a:rPr>
              <a:t> from </a:t>
            </a:r>
            <a:r>
              <a:rPr lang="en-US" sz="1400" b="0" dirty="0">
                <a:solidFill>
                  <a:srgbClr val="FFC58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ext</a:t>
            </a:r>
            <a:r>
              <a:rPr lang="en-US" sz="1400" b="0" dirty="0">
                <a:solidFill>
                  <a:srgbClr val="FFC58F"/>
                </a:solidFill>
                <a:effectLst/>
                <a:latin typeface="Consolas" panose="020B0609020204030204" pitchFamily="49" charset="0"/>
              </a:rPr>
              <a:t>}</a:t>
            </a:r>
            <a:r>
              <a:rPr lang="en-US" sz="1400" b="0" dirty="0">
                <a:solidFill>
                  <a:srgbClr val="D1F1A9"/>
                </a:solidFill>
                <a:effectLst/>
                <a:latin typeface="Consolas" panose="020B0609020204030204" pitchFamily="49" charset="0"/>
              </a:rPr>
              <a:t> to </a:t>
            </a:r>
            <a:r>
              <a:rPr lang="en-US" sz="1400" b="0" dirty="0">
                <a:solidFill>
                  <a:srgbClr val="FFC58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target_ext</a:t>
            </a:r>
            <a:r>
              <a:rPr lang="en-US" sz="1400" b="0" dirty="0">
                <a:solidFill>
                  <a:srgbClr val="FFC58F"/>
                </a:solidFill>
                <a:effectLst/>
                <a:latin typeface="Consolas" panose="020B0609020204030204" pitchFamily="49" charset="0"/>
              </a:rPr>
              <a:t>}</a:t>
            </a:r>
            <a:r>
              <a:rPr lang="en-US" sz="1400" b="0" dirty="0">
                <a:solidFill>
                  <a:srgbClr val="D1F1A9"/>
                </a:solidFill>
                <a:effectLst/>
                <a:latin typeface="Consolas" panose="020B0609020204030204" pitchFamily="49" charset="0"/>
              </a:rPr>
              <a:t> is not supported"</a:t>
            </a:r>
            <a:r>
              <a:rPr lang="en-US" sz="1400" b="0" dirty="0">
                <a:solidFill>
                  <a:srgbClr val="BBDAFF"/>
                </a:solidFill>
                <a:effectLst/>
                <a:latin typeface="Consolas" panose="020B0609020204030204" pitchFamily="49" charset="0"/>
              </a:rPr>
              <a:t>})</a:t>
            </a:r>
            <a:r>
              <a:rPr lang="en-US" sz="1400" b="0" dirty="0">
                <a:solidFill>
                  <a:srgbClr val="FFFFFF"/>
                </a:solidFill>
                <a:effectLst/>
                <a:latin typeface="Consolas" panose="020B0609020204030204" pitchFamily="49" charset="0"/>
              </a:rPr>
              <a:t>, </a:t>
            </a:r>
            <a:r>
              <a:rPr lang="en-US" sz="1400" b="0" dirty="0">
                <a:solidFill>
                  <a:srgbClr val="FFC58F"/>
                </a:solidFill>
                <a:effectLst/>
                <a:latin typeface="Consolas" panose="020B0609020204030204" pitchFamily="49" charset="0"/>
              </a:rPr>
              <a:t>400</a:t>
            </a:r>
            <a:br>
              <a:rPr lang="en-US" sz="1400" b="0" dirty="0">
                <a:solidFill>
                  <a:srgbClr val="FFFFFF"/>
                </a:solidFill>
                <a:effectLst/>
                <a:latin typeface="Consolas" panose="020B0609020204030204" pitchFamily="49" charset="0"/>
              </a:rPr>
            </a:br>
            <a:r>
              <a:rPr lang="en-US" sz="1400" b="0" dirty="0">
                <a:solidFill>
                  <a:srgbClr val="FFFFFF"/>
                </a:solidFill>
                <a:effectLst/>
                <a:latin typeface="Consolas" panose="020B0609020204030204" pitchFamily="49" charset="0"/>
              </a:rPr>
              <a:t>            </a:t>
            </a:r>
            <a:r>
              <a:rPr lang="en-US" sz="1400" b="0" dirty="0">
                <a:solidFill>
                  <a:srgbClr val="EBBBFF"/>
                </a:solidFill>
                <a:effectLst/>
                <a:latin typeface="Consolas" panose="020B0609020204030204" pitchFamily="49" charset="0"/>
              </a:rPr>
              <a:t>return</a:t>
            </a:r>
            <a:r>
              <a:rPr lang="en-US" sz="1400" b="0" dirty="0">
                <a:solidFill>
                  <a:srgbClr val="FFFFFF"/>
                </a:solidFill>
                <a:effectLst/>
                <a:latin typeface="Consolas" panose="020B0609020204030204" pitchFamily="49" charset="0"/>
              </a:rPr>
              <a:t> </a:t>
            </a:r>
            <a:r>
              <a:rPr lang="en-US" sz="1400" b="0" dirty="0" err="1">
                <a:solidFill>
                  <a:srgbClr val="BBDAFF"/>
                </a:solidFill>
                <a:effectLst/>
                <a:latin typeface="Consolas" panose="020B0609020204030204" pitchFamily="49" charset="0"/>
              </a:rPr>
              <a:t>send_file</a:t>
            </a:r>
            <a:r>
              <a:rPr lang="en-US" sz="1400" b="0" dirty="0">
                <a:solidFill>
                  <a:srgbClr val="BBDAF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output_path</a:t>
            </a:r>
            <a:r>
              <a:rPr lang="en-US" sz="1400" b="0" dirty="0">
                <a:solidFill>
                  <a:srgbClr val="BBDAFF"/>
                </a:solidFill>
                <a:effectLst/>
                <a:latin typeface="Consolas" panose="020B0609020204030204" pitchFamily="49" charset="0"/>
              </a:rPr>
              <a:t>, </a:t>
            </a:r>
            <a:r>
              <a:rPr lang="en-US" sz="1400" b="0" dirty="0" err="1">
                <a:solidFill>
                  <a:srgbClr val="FFC58F"/>
                </a:solidFill>
                <a:effectLst/>
                <a:latin typeface="Consolas" panose="020B0609020204030204" pitchFamily="49" charset="0"/>
              </a:rPr>
              <a:t>as_attachment</a:t>
            </a:r>
            <a:r>
              <a:rPr lang="en-US" sz="1400" b="0" dirty="0">
                <a:solidFill>
                  <a:srgbClr val="99FFFF"/>
                </a:solidFill>
                <a:effectLst/>
                <a:latin typeface="Consolas" panose="020B0609020204030204" pitchFamily="49" charset="0"/>
              </a:rPr>
              <a:t>=</a:t>
            </a:r>
            <a:r>
              <a:rPr lang="en-US" sz="1400" b="0" dirty="0">
                <a:solidFill>
                  <a:srgbClr val="FFC58F"/>
                </a:solidFill>
                <a:effectLst/>
                <a:latin typeface="Consolas" panose="020B0609020204030204" pitchFamily="49" charset="0"/>
              </a:rPr>
              <a:t>True</a:t>
            </a:r>
            <a:r>
              <a:rPr lang="en-US" sz="1400" b="0" dirty="0">
                <a:solidFill>
                  <a:srgbClr val="BBDAFF"/>
                </a:solidFill>
                <a:effectLst/>
                <a:latin typeface="Consolas" panose="020B0609020204030204" pitchFamily="49" charset="0"/>
              </a:rPr>
              <a:t>, </a:t>
            </a:r>
            <a:r>
              <a:rPr lang="en-US" sz="1400" b="0" dirty="0" err="1">
                <a:solidFill>
                  <a:srgbClr val="FFC58F"/>
                </a:solidFill>
                <a:effectLst/>
                <a:latin typeface="Consolas" panose="020B0609020204030204" pitchFamily="49" charset="0"/>
              </a:rPr>
              <a:t>download_name</a:t>
            </a:r>
            <a:r>
              <a:rPr lang="en-US" sz="1400" b="0" dirty="0">
                <a:solidFill>
                  <a:srgbClr val="99FFFF"/>
                </a:solidFill>
                <a:effectLst/>
                <a:latin typeface="Consolas" panose="020B0609020204030204" pitchFamily="49" charset="0"/>
              </a:rPr>
              <a:t>=</a:t>
            </a:r>
            <a:r>
              <a:rPr lang="en-US" sz="1400" b="0" dirty="0" err="1">
                <a:solidFill>
                  <a:srgbClr val="EBBBFF"/>
                </a:solidFill>
                <a:effectLst/>
                <a:latin typeface="Consolas" panose="020B0609020204030204" pitchFamily="49" charset="0"/>
              </a:rPr>
              <a:t>f</a:t>
            </a:r>
            <a:r>
              <a:rPr lang="en-US" sz="1400" b="0" dirty="0" err="1">
                <a:solidFill>
                  <a:srgbClr val="D1F1A9"/>
                </a:solidFill>
                <a:effectLst/>
                <a:latin typeface="Consolas" panose="020B0609020204030204" pitchFamily="49" charset="0"/>
              </a:rPr>
              <a:t>"converted</a:t>
            </a:r>
            <a:r>
              <a:rPr lang="en-US" sz="1400" b="0" dirty="0">
                <a:solidFill>
                  <a:srgbClr val="D1F1A9"/>
                </a:solidFill>
                <a:effectLst/>
                <a:latin typeface="Consolas" panose="020B0609020204030204" pitchFamily="49" charset="0"/>
              </a:rPr>
              <a:t>_</a:t>
            </a:r>
            <a:r>
              <a:rPr lang="en-US" sz="1400" b="0" dirty="0">
                <a:solidFill>
                  <a:srgbClr val="FFC58F"/>
                </a:solidFill>
                <a:effectLst/>
                <a:latin typeface="Consolas" panose="020B0609020204030204" pitchFamily="49" charset="0"/>
              </a:rPr>
              <a:t>{</a:t>
            </a:r>
            <a:r>
              <a:rPr lang="en-US" sz="1400" b="0" dirty="0" err="1">
                <a:solidFill>
                  <a:srgbClr val="BBDAFF"/>
                </a:solidFill>
                <a:effectLst/>
                <a:latin typeface="Consolas" panose="020B0609020204030204" pitchFamily="49" charset="0"/>
              </a:rPr>
              <a:t>output_filename</a:t>
            </a:r>
            <a:r>
              <a:rPr lang="en-US" sz="1400" b="0" dirty="0">
                <a:solidFill>
                  <a:srgbClr val="FFC58F"/>
                </a:solidFill>
                <a:effectLst/>
                <a:latin typeface="Consolas" panose="020B0609020204030204" pitchFamily="49" charset="0"/>
              </a:rPr>
              <a:t>}</a:t>
            </a:r>
            <a:r>
              <a:rPr lang="en-US" sz="1400" b="0" dirty="0">
                <a:solidFill>
                  <a:srgbClr val="D1F1A9"/>
                </a:solidFill>
                <a:effectLst/>
                <a:latin typeface="Consolas" panose="020B0609020204030204" pitchFamily="49" charset="0"/>
              </a:rPr>
              <a:t>"</a:t>
            </a:r>
            <a:r>
              <a:rPr lang="en-US" sz="1400" b="0" dirty="0">
                <a:solidFill>
                  <a:srgbClr val="BBDAFF"/>
                </a:solidFill>
                <a:effectLst/>
                <a:latin typeface="Consolas" panose="020B0609020204030204" pitchFamily="49" charset="0"/>
              </a:rPr>
              <a:t>)</a:t>
            </a:r>
            <a:endParaRPr lang="en-US" sz="1400" b="0" dirty="0">
              <a:solidFill>
                <a:srgbClr val="FFFFFF"/>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2907AED3-8970-2D40-E32F-1895F613445C}"/>
              </a:ext>
            </a:extLst>
          </p:cNvPr>
          <p:cNvSpPr txBox="1"/>
          <p:nvPr/>
        </p:nvSpPr>
        <p:spPr>
          <a:xfrm>
            <a:off x="382153" y="624981"/>
            <a:ext cx="8618104" cy="1323439"/>
          </a:xfrm>
          <a:prstGeom prst="rect">
            <a:avLst/>
          </a:prstGeom>
          <a:noFill/>
        </p:spPr>
        <p:txBody>
          <a:bodyPr wrap="square" rtlCol="0">
            <a:spAutoFit/>
          </a:bodyPr>
          <a:lstStyle/>
          <a:p>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File được chuyển về Python sẽ được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quét</a:t>
            </a:r>
            <a:r>
              <a:rPr kumimoji="0" lang="en-US"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kiểm tra ký tự và cỡ file </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(để đảm bảo thời gian chờ và phục vụ mục đích kiểm thử, </a:t>
            </a:r>
            <a:r>
              <a:rPr kumimoji="0" lang="vi-VN" altLang="en-US" sz="2000" b="0" i="0" u="none" strike="noStrike" cap="none" normalizeH="0" baseline="0" dirty="0">
                <a:ln>
                  <a:noFill/>
                </a:ln>
                <a:solidFill>
                  <a:schemeClr val="tx1"/>
                </a:solidFill>
                <a:effectLst/>
                <a:latin typeface="Bahnschrift Condensed" panose="020B0502040204020203" pitchFamily="34" charset="0"/>
                <a:cs typeface="Cascadia Code Light" panose="020B0609020000020004" pitchFamily="49" charset="0"/>
              </a:rPr>
              <a:t>file được giới hạn 50MB</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 Sau đó, mã nguồn được viết theo cấu trúc Cần cẩu móc “</a:t>
            </a:r>
            <a:r>
              <a:rPr kumimoji="0" lang="en-US"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Craning </a:t>
            </a:r>
            <a:r>
              <a:rPr lang="en-US" altLang="en-US" sz="2000" dirty="0">
                <a:latin typeface="Bahnschrift Light Condensed" panose="020B0502040204020203" pitchFamily="34" charset="0"/>
                <a:cs typeface="Cascadia Code Light" panose="020B0609020000020004" pitchFamily="49" charset="0"/>
              </a:rPr>
              <a:t>p</a:t>
            </a:r>
            <a:r>
              <a:rPr kumimoji="0" lang="vi-VN"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rPr>
              <a:t>ick-and-poke” xây dựng bằng nhiều câu lệnh rẽ nhánh để Python áp dụng đúng thư viện chuyển đổi với từng format.</a:t>
            </a:r>
            <a:endParaRPr kumimoji="0" lang="en-US"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endParaRPr>
          </a:p>
        </p:txBody>
      </p:sp>
    </p:spTree>
    <p:extLst>
      <p:ext uri="{BB962C8B-B14F-4D97-AF65-F5344CB8AC3E}">
        <p14:creationId xmlns:p14="http://schemas.microsoft.com/office/powerpoint/2010/main" val="3963631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04E85AB-0288-F588-D86B-BFD49292C8E9}"/>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11</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11754978"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II</a:t>
            </a:r>
          </a:p>
          <a:p>
            <a:pPr algn="r"/>
            <a:r>
              <a:rPr lang="vi-VN" dirty="0">
                <a:latin typeface="Bahnschrift Light Condensed" panose="020B0502040204020203" pitchFamily="34" charset="0"/>
              </a:rPr>
              <a:t>LIBRARIES</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8898657" y="162684"/>
            <a:ext cx="2911190" cy="646331"/>
          </a:xfrm>
          <a:prstGeom prst="rect">
            <a:avLst/>
          </a:prstGeom>
          <a:noFill/>
        </p:spPr>
        <p:txBody>
          <a:bodyPr wrap="square" rtlCol="0">
            <a:spAutoFit/>
          </a:bodyPr>
          <a:lstStyle/>
          <a:p>
            <a:pPr algn="r"/>
            <a:r>
              <a:rPr lang="vi-VN" b="1" dirty="0">
                <a:latin typeface="Bahnschrift Condensed" panose="020B0502040204020203" pitchFamily="34" charset="0"/>
              </a:rPr>
              <a:t>PHẦN III</a:t>
            </a:r>
          </a:p>
          <a:p>
            <a:pPr algn="r"/>
            <a:r>
              <a:rPr lang="vi-VN" dirty="0">
                <a:latin typeface="Bahnschrift Light Condensed" panose="020B0502040204020203" pitchFamily="34" charset="0"/>
              </a:rPr>
              <a:t>QUY TRÌNH THAO TÁC: SERVER</a:t>
            </a:r>
          </a:p>
        </p:txBody>
      </p:sp>
      <p:pic>
        <p:nvPicPr>
          <p:cNvPr id="5" name="Picture 4">
            <a:extLst>
              <a:ext uri="{FF2B5EF4-FFF2-40B4-BE49-F238E27FC236}">
                <a16:creationId xmlns:a16="http://schemas.microsoft.com/office/drawing/2014/main" id="{0B40A8B2-2C56-CCD7-45F5-98859EF149A3}"/>
              </a:ext>
            </a:extLst>
          </p:cNvPr>
          <p:cNvPicPr>
            <a:picLocks noChangeAspect="1"/>
          </p:cNvPicPr>
          <p:nvPr/>
        </p:nvPicPr>
        <p:blipFill>
          <a:blip r:embed="rId3"/>
          <a:stretch>
            <a:fillRect/>
          </a:stretch>
        </p:blipFill>
        <p:spPr>
          <a:xfrm>
            <a:off x="558481" y="2309656"/>
            <a:ext cx="4572638" cy="2238687"/>
          </a:xfrm>
          <a:prstGeom prst="roundRect">
            <a:avLst>
              <a:gd name="adj" fmla="val 7136"/>
            </a:avLst>
          </a:prstGeom>
          <a:effectLst>
            <a:reflection blurRad="6350" stA="50000" endA="275" endPos="40000" dist="101600" dir="5400000" sy="-100000" algn="bl" rotWithShape="0"/>
          </a:effectLst>
        </p:spPr>
      </p:pic>
      <p:sp>
        <p:nvSpPr>
          <p:cNvPr id="7" name="TextBox 6">
            <a:extLst>
              <a:ext uri="{FF2B5EF4-FFF2-40B4-BE49-F238E27FC236}">
                <a16:creationId xmlns:a16="http://schemas.microsoft.com/office/drawing/2014/main" id="{79F39C22-3A22-1ABE-AAB5-F8CD71C2F7EC}"/>
              </a:ext>
            </a:extLst>
          </p:cNvPr>
          <p:cNvSpPr txBox="1"/>
          <p:nvPr/>
        </p:nvSpPr>
        <p:spPr>
          <a:xfrm>
            <a:off x="5690401" y="3075056"/>
            <a:ext cx="5943118" cy="707886"/>
          </a:xfrm>
          <a:prstGeom prst="rect">
            <a:avLst/>
          </a:prstGeom>
          <a:noFill/>
        </p:spPr>
        <p:txBody>
          <a:bodyPr wrap="square" rtlCol="0">
            <a:spAutoFit/>
          </a:bodyPr>
          <a:lstStyle/>
          <a:p>
            <a:r>
              <a:rPr lang="vi-VN" altLang="en-US" sz="2000" dirty="0">
                <a:latin typeface="Bahnschrift Light Condensed" panose="020B0502040204020203" pitchFamily="34" charset="0"/>
                <a:cs typeface="Cascadia Code Light" panose="020B0609020000020004" pitchFamily="49" charset="0"/>
              </a:rPr>
              <a:t>File cuối sẽ được rename thành </a:t>
            </a:r>
            <a:r>
              <a:rPr lang="vi-VN" altLang="en-US" dirty="0">
                <a:solidFill>
                  <a:srgbClr val="C00000"/>
                </a:solidFill>
                <a:latin typeface="Cascadia Code" panose="020B0609020000020004" pitchFamily="49" charset="0"/>
                <a:cs typeface="Cascadia Code" panose="020B0609020000020004" pitchFamily="49" charset="0"/>
              </a:rPr>
              <a:t>converted_{$filename} </a:t>
            </a:r>
            <a:r>
              <a:rPr lang="vi-VN" altLang="en-US" sz="2000" dirty="0">
                <a:latin typeface="Bahnschrift Light Condensed" panose="020B0502040204020203" pitchFamily="34" charset="0"/>
                <a:cs typeface="Cascadia Code Light" panose="020B0609020000020004" pitchFamily="49" charset="0"/>
              </a:rPr>
              <a:t>để tránh đè lên file khác của Client và được tải về ngay lập tức.</a:t>
            </a:r>
            <a:endParaRPr kumimoji="0" lang="en-US" altLang="en-US" sz="2000" b="0" i="0" u="none" strike="noStrike" cap="none" normalizeH="0" baseline="0" dirty="0">
              <a:ln>
                <a:noFill/>
              </a:ln>
              <a:solidFill>
                <a:schemeClr val="tx1"/>
              </a:solidFill>
              <a:effectLst/>
              <a:latin typeface="Bahnschrift Light Condensed" panose="020B0502040204020203" pitchFamily="34" charset="0"/>
              <a:cs typeface="Cascadia Code Light" panose="020B0609020000020004" pitchFamily="49" charset="0"/>
            </a:endParaRPr>
          </a:p>
        </p:txBody>
      </p:sp>
    </p:spTree>
    <p:extLst>
      <p:ext uri="{BB962C8B-B14F-4D97-AF65-F5344CB8AC3E}">
        <p14:creationId xmlns:p14="http://schemas.microsoft.com/office/powerpoint/2010/main" val="2855678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E834C2C-C17D-5F6B-E392-F31590784CA5}"/>
              </a:ext>
            </a:extLst>
          </p:cNvPr>
          <p:cNvSpPr txBox="1"/>
          <p:nvPr/>
        </p:nvSpPr>
        <p:spPr>
          <a:xfrm>
            <a:off x="0" y="3617196"/>
            <a:ext cx="3771072" cy="3770263"/>
          </a:xfrm>
          <a:prstGeom prst="rect">
            <a:avLst/>
          </a:prstGeom>
          <a:noFill/>
        </p:spPr>
        <p:txBody>
          <a:bodyPr wrap="square" rtlCol="0">
            <a:spAutoFit/>
          </a:bodyPr>
          <a:lstStyle/>
          <a:p>
            <a:r>
              <a:rPr lang="vi-VN" sz="23900" dirty="0">
                <a:solidFill>
                  <a:schemeClr val="bg1">
                    <a:lumMod val="95000"/>
                  </a:schemeClr>
                </a:solidFill>
                <a:latin typeface="Bahnschrift Condensed" panose="020B0502040204020203" pitchFamily="34" charset="0"/>
              </a:rPr>
              <a:t>12</a:t>
            </a:r>
            <a:endParaRPr lang="en-US" sz="23900" dirty="0">
              <a:solidFill>
                <a:schemeClr val="bg1">
                  <a:lumMod val="95000"/>
                </a:schemeClr>
              </a:solidFill>
              <a:latin typeface="Bahnschrift Condensed" panose="020B0502040204020203" pitchFamily="34" charset="0"/>
            </a:endParaRPr>
          </a:p>
        </p:txBody>
      </p:sp>
      <p:sp>
        <p:nvSpPr>
          <p:cNvPr id="10" name="TextBox 9">
            <a:extLst>
              <a:ext uri="{FF2B5EF4-FFF2-40B4-BE49-F238E27FC236}">
                <a16:creationId xmlns:a16="http://schemas.microsoft.com/office/drawing/2014/main" id="{D5755350-C3CB-20D0-6303-2DE6B0AA661E}"/>
              </a:ext>
            </a:extLst>
          </p:cNvPr>
          <p:cNvSpPr txBox="1"/>
          <p:nvPr/>
        </p:nvSpPr>
        <p:spPr>
          <a:xfrm>
            <a:off x="9448658"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IV</a:t>
            </a:r>
          </a:p>
          <a:p>
            <a:pPr algn="r"/>
            <a:r>
              <a:rPr lang="vi-VN" dirty="0">
                <a:latin typeface="Bahnschrift Light Condensed" panose="020B0502040204020203" pitchFamily="34" charset="0"/>
              </a:rPr>
              <a:t>DEMO VÀ KẾT LUẬN</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2" name="TextBox 1">
            <a:extLst>
              <a:ext uri="{FF2B5EF4-FFF2-40B4-BE49-F238E27FC236}">
                <a16:creationId xmlns:a16="http://schemas.microsoft.com/office/drawing/2014/main" id="{7EFBBC79-F41C-2CE1-9C49-9EEE0092ED76}"/>
              </a:ext>
            </a:extLst>
          </p:cNvPr>
          <p:cNvSpPr txBox="1"/>
          <p:nvPr/>
        </p:nvSpPr>
        <p:spPr>
          <a:xfrm>
            <a:off x="12678177" y="162684"/>
            <a:ext cx="2911190" cy="646331"/>
          </a:xfrm>
          <a:prstGeom prst="rect">
            <a:avLst/>
          </a:prstGeom>
          <a:noFill/>
        </p:spPr>
        <p:txBody>
          <a:bodyPr wrap="square" rtlCol="0">
            <a:spAutoFit/>
          </a:bodyPr>
          <a:lstStyle/>
          <a:p>
            <a:pPr algn="r"/>
            <a:r>
              <a:rPr lang="vi-VN" b="1" dirty="0">
                <a:latin typeface="Bahnschrift Condensed" panose="020B0502040204020203" pitchFamily="34" charset="0"/>
              </a:rPr>
              <a:t>PHẦN III</a:t>
            </a:r>
          </a:p>
          <a:p>
            <a:pPr algn="r"/>
            <a:r>
              <a:rPr lang="vi-VN" dirty="0">
                <a:latin typeface="Bahnschrift Light Condensed" panose="020B0502040204020203" pitchFamily="34" charset="0"/>
              </a:rPr>
              <a:t>QUY TRÌNH THAO TÁC: SERVER</a:t>
            </a:r>
          </a:p>
        </p:txBody>
      </p:sp>
      <p:graphicFrame>
        <p:nvGraphicFramePr>
          <p:cNvPr id="8" name="Table 7">
            <a:extLst>
              <a:ext uri="{FF2B5EF4-FFF2-40B4-BE49-F238E27FC236}">
                <a16:creationId xmlns:a16="http://schemas.microsoft.com/office/drawing/2014/main" id="{FFD7A677-D5B0-F859-D0C2-F2212C5DA7A4}"/>
              </a:ext>
            </a:extLst>
          </p:cNvPr>
          <p:cNvGraphicFramePr>
            <a:graphicFrameLocks noGrp="1"/>
          </p:cNvGraphicFramePr>
          <p:nvPr>
            <p:extLst>
              <p:ext uri="{D42A27DB-BD31-4B8C-83A1-F6EECF244321}">
                <p14:modId xmlns:p14="http://schemas.microsoft.com/office/powerpoint/2010/main" val="2722419348"/>
              </p:ext>
            </p:extLst>
          </p:nvPr>
        </p:nvGraphicFramePr>
        <p:xfrm>
          <a:off x="426723" y="1004146"/>
          <a:ext cx="11308077" cy="5320656"/>
        </p:xfrm>
        <a:graphic>
          <a:graphicData uri="http://schemas.openxmlformats.org/drawingml/2006/table">
            <a:tbl>
              <a:tblPr firstRow="1" bandRow="1">
                <a:tableStyleId>{073A0DAA-6AF3-43AB-8588-CEC1D06C72B9}</a:tableStyleId>
              </a:tblPr>
              <a:tblGrid>
                <a:gridCol w="2824477">
                  <a:extLst>
                    <a:ext uri="{9D8B030D-6E8A-4147-A177-3AD203B41FA5}">
                      <a16:colId xmlns:a16="http://schemas.microsoft.com/office/drawing/2014/main" val="3498133344"/>
                    </a:ext>
                  </a:extLst>
                </a:gridCol>
                <a:gridCol w="8483600">
                  <a:extLst>
                    <a:ext uri="{9D8B030D-6E8A-4147-A177-3AD203B41FA5}">
                      <a16:colId xmlns:a16="http://schemas.microsoft.com/office/drawing/2014/main" val="2506605906"/>
                    </a:ext>
                  </a:extLst>
                </a:gridCol>
              </a:tblGrid>
              <a:tr h="2602654">
                <a:tc>
                  <a:txBody>
                    <a:bodyPr/>
                    <a:lstStyle/>
                    <a:p>
                      <a:pPr algn="ctr"/>
                      <a:r>
                        <a:rPr lang="vi-VN" sz="2000" dirty="0">
                          <a:solidFill>
                            <a:schemeClr val="bg1"/>
                          </a:solidFill>
                          <a:latin typeface="Bahnschrift Condensed" panose="020B0502040204020203" pitchFamily="34" charset="0"/>
                        </a:rPr>
                        <a:t>Thành tựu</a:t>
                      </a:r>
                      <a:endParaRPr lang="en-US" sz="2000" dirty="0">
                        <a:solidFill>
                          <a:schemeClr val="bg1"/>
                        </a:solidFill>
                        <a:latin typeface="Bahnschrift Condensed"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342900" indent="-342900" algn="l">
                        <a:buFont typeface="Arial" panose="020B0604020202020204" pitchFamily="34" charset="0"/>
                        <a:buChar char="•"/>
                      </a:pPr>
                      <a:r>
                        <a:rPr lang="vi-VN" sz="2000" b="0" dirty="0">
                          <a:solidFill>
                            <a:schemeClr val="tx1"/>
                          </a:solidFill>
                          <a:latin typeface="Bahnschrift Light Condensed" panose="020B0502040204020203" pitchFamily="34" charset="0"/>
                        </a:rPr>
                        <a:t>Webapp đáp ứng được nhu cầu đề ra, chuyển đổi file mượt mà và nhanh chóng đối với những file kích cỡ tiêu chuẩn.</a:t>
                      </a:r>
                    </a:p>
                    <a:p>
                      <a:pPr marL="342900" indent="-342900" algn="l">
                        <a:buFont typeface="Arial" panose="020B0604020202020204" pitchFamily="34" charset="0"/>
                        <a:buChar char="•"/>
                      </a:pPr>
                      <a:r>
                        <a:rPr lang="vi-VN" sz="2000" b="0" dirty="0">
                          <a:solidFill>
                            <a:schemeClr val="tx1"/>
                          </a:solidFill>
                          <a:latin typeface="Bahnschrift Light Condensed" panose="020B0502040204020203" pitchFamily="34" charset="0"/>
                        </a:rPr>
                        <a:t>Frontend với UI và Javascript Handler cải tiến.</a:t>
                      </a:r>
                      <a:endParaRPr lang="en-US" sz="2000" b="0" dirty="0">
                        <a:solidFill>
                          <a:schemeClr val="tx1"/>
                        </a:solidFill>
                        <a:latin typeface="Bahnschrift Light Condensed"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8970280"/>
                  </a:ext>
                </a:extLst>
              </a:tr>
              <a:tr h="2718002">
                <a:tc>
                  <a:txBody>
                    <a:bodyPr/>
                    <a:lstStyle/>
                    <a:p>
                      <a:pPr algn="ctr"/>
                      <a:r>
                        <a:rPr lang="vi-VN" sz="2000" dirty="0">
                          <a:solidFill>
                            <a:schemeClr val="bg1"/>
                          </a:solidFill>
                          <a:latin typeface="Bahnschrift Condensed" panose="020B0502040204020203" pitchFamily="34" charset="0"/>
                        </a:rPr>
                        <a:t>Cần khắc phục</a:t>
                      </a:r>
                      <a:endParaRPr lang="en-US" sz="2000" dirty="0">
                        <a:solidFill>
                          <a:schemeClr val="bg1"/>
                        </a:solidFill>
                        <a:latin typeface="Bahnschrift Condensed"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342900" indent="-342900" algn="l">
                        <a:buFont typeface="Arial" panose="020B0604020202020204" pitchFamily="34" charset="0"/>
                        <a:buChar char="•"/>
                      </a:pPr>
                      <a:r>
                        <a:rPr lang="vi-VN" sz="2000" b="0" dirty="0">
                          <a:solidFill>
                            <a:schemeClr val="tx1"/>
                          </a:solidFill>
                          <a:latin typeface="Bahnschrift Light Condensed" panose="020B0502040204020203" pitchFamily="34" charset="0"/>
                        </a:rPr>
                        <a:t>Hỗ trợ tùy chọn định dạng còn hạn chế.</a:t>
                      </a:r>
                    </a:p>
                    <a:p>
                      <a:pPr marL="342900" indent="-342900" algn="l">
                        <a:buFont typeface="Arial" panose="020B0604020202020204" pitchFamily="34" charset="0"/>
                        <a:buChar char="•"/>
                      </a:pPr>
                      <a:r>
                        <a:rPr lang="vi-VN" sz="2000" b="0" dirty="0">
                          <a:solidFill>
                            <a:schemeClr val="tx1"/>
                          </a:solidFill>
                          <a:latin typeface="Bahnschrift Light Condensed" panose="020B0502040204020203" pitchFamily="34" charset="0"/>
                        </a:rPr>
                        <a:t>Đây có thể được xây dựng thành một nền tảng trả phí. Tuy nhiên, do tốc độ chuyển đổi của Backend có thể còn thấp, vì vậy để nâng cao UX, cần phải tìm hiểu thêm nhiều thư viện từ các ngôn ngữ khác, hoặc xây dựng API để làm việc với các dịch vụ file conversion chuyên nghiệp.</a:t>
                      </a:r>
                      <a:endParaRPr lang="en-US" sz="2000" b="0" dirty="0">
                        <a:solidFill>
                          <a:schemeClr val="tx1"/>
                        </a:solidFill>
                        <a:latin typeface="Bahnschrift Light Condensed" panose="020B0502040204020203" pitchFamily="34" charset="0"/>
                      </a:endParaRPr>
                    </a:p>
                    <a:p>
                      <a:pPr marL="342900" indent="-342900" algn="l">
                        <a:buFont typeface="Arial" panose="020B0604020202020204" pitchFamily="34" charset="0"/>
                        <a:buChar char="•"/>
                      </a:pPr>
                      <a:r>
                        <a:rPr lang="vi-VN" sz="2000" b="0" dirty="0">
                          <a:solidFill>
                            <a:schemeClr val="tx1"/>
                          </a:solidFill>
                          <a:latin typeface="Bahnschrift Light Condensed" panose="020B0502040204020203" pitchFamily="34" charset="0"/>
                        </a:rPr>
                        <a:t>Do một số giới hạn, nhóm chưa thể xây dựng hệ thống Database để lưu trử file của người dùng trong một thời gian ngắn trước khi hết hạn.</a:t>
                      </a:r>
                      <a:endParaRPr lang="en-US" sz="2000" b="0" dirty="0">
                        <a:solidFill>
                          <a:schemeClr val="tx1"/>
                        </a:solidFill>
                        <a:latin typeface="Bahnschrift Light Condensed"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090291"/>
                  </a:ext>
                </a:extLst>
              </a:tr>
            </a:tbl>
          </a:graphicData>
        </a:graphic>
      </p:graphicFrame>
      <p:sp>
        <p:nvSpPr>
          <p:cNvPr id="11" name="Rectangle 10">
            <a:extLst>
              <a:ext uri="{FF2B5EF4-FFF2-40B4-BE49-F238E27FC236}">
                <a16:creationId xmlns:a16="http://schemas.microsoft.com/office/drawing/2014/main" id="{A075F4C9-7A10-14DC-A573-D104611D9591}"/>
              </a:ext>
            </a:extLst>
          </p:cNvPr>
          <p:cNvSpPr/>
          <p:nvPr/>
        </p:nvSpPr>
        <p:spPr>
          <a:xfrm>
            <a:off x="12612459" y="2509935"/>
            <a:ext cx="2573525"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CA32C2-4043-95FF-43F4-819698A84D8F}"/>
              </a:ext>
            </a:extLst>
          </p:cNvPr>
          <p:cNvSpPr/>
          <p:nvPr/>
        </p:nvSpPr>
        <p:spPr>
          <a:xfrm>
            <a:off x="-3014496" y="2509935"/>
            <a:ext cx="2573525"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22B4D7-4961-2F64-3728-4B94223183E7}"/>
              </a:ext>
            </a:extLst>
          </p:cNvPr>
          <p:cNvSpPr txBox="1"/>
          <p:nvPr/>
        </p:nvSpPr>
        <p:spPr>
          <a:xfrm>
            <a:off x="747413" y="-1406091"/>
            <a:ext cx="10589281" cy="1015663"/>
          </a:xfrm>
          <a:prstGeom prst="rect">
            <a:avLst/>
          </a:prstGeom>
          <a:noFill/>
        </p:spPr>
        <p:txBody>
          <a:bodyPr wrap="square" rtlCol="0">
            <a:spAutoFit/>
          </a:bodyPr>
          <a:lstStyle/>
          <a:p>
            <a:pPr algn="ctr"/>
            <a:r>
              <a:rPr lang="vi-VN" sz="6000" dirty="0">
                <a:latin typeface="Bahnschrift SemiBold Condensed" panose="020B0502040204020203" pitchFamily="34" charset="0"/>
              </a:rPr>
              <a:t>CẢM ƠN CÁC BẠN ĐÃ LẮNG NGHE</a:t>
            </a:r>
            <a:endParaRPr lang="en-US" sz="6000" dirty="0">
              <a:latin typeface="Bahnschrift SemiBold Condensed" panose="020B0502040204020203" pitchFamily="34" charset="0"/>
            </a:endParaRPr>
          </a:p>
        </p:txBody>
      </p:sp>
    </p:spTree>
    <p:extLst>
      <p:ext uri="{BB962C8B-B14F-4D97-AF65-F5344CB8AC3E}">
        <p14:creationId xmlns:p14="http://schemas.microsoft.com/office/powerpoint/2010/main" val="3523564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5755350-C3CB-20D0-6303-2DE6B0AA661E}"/>
              </a:ext>
            </a:extLst>
          </p:cNvPr>
          <p:cNvSpPr txBox="1"/>
          <p:nvPr/>
        </p:nvSpPr>
        <p:spPr>
          <a:xfrm>
            <a:off x="11150135" y="139957"/>
            <a:ext cx="2573525" cy="646331"/>
          </a:xfrm>
          <a:prstGeom prst="rect">
            <a:avLst/>
          </a:prstGeom>
          <a:noFill/>
        </p:spPr>
        <p:txBody>
          <a:bodyPr wrap="square" rtlCol="0">
            <a:spAutoFit/>
          </a:bodyPr>
          <a:lstStyle/>
          <a:p>
            <a:pPr algn="r"/>
            <a:r>
              <a:rPr lang="vi-VN" b="1" dirty="0">
                <a:latin typeface="Bahnschrift Condensed" panose="020B0502040204020203" pitchFamily="34" charset="0"/>
              </a:rPr>
              <a:t>PHẦN IV</a:t>
            </a:r>
          </a:p>
          <a:p>
            <a:pPr algn="r"/>
            <a:r>
              <a:rPr lang="vi-VN" dirty="0">
                <a:latin typeface="Bahnschrift Light Condensed" panose="020B0502040204020203" pitchFamily="34" charset="0"/>
              </a:rPr>
              <a:t>DEMO VÀ KẾT LUẬN</a:t>
            </a:r>
          </a:p>
        </p:txBody>
      </p:sp>
      <p:cxnSp>
        <p:nvCxnSpPr>
          <p:cNvPr id="12" name="Straight Connector 11">
            <a:extLst>
              <a:ext uri="{FF2B5EF4-FFF2-40B4-BE49-F238E27FC236}">
                <a16:creationId xmlns:a16="http://schemas.microsoft.com/office/drawing/2014/main" id="{8BE4027A-9756-4257-2DC6-2DF571CC756E}"/>
              </a:ext>
            </a:extLst>
          </p:cNvPr>
          <p:cNvCxnSpPr/>
          <p:nvPr/>
        </p:nvCxnSpPr>
        <p:spPr>
          <a:xfrm>
            <a:off x="6096000" y="8064371"/>
            <a:ext cx="0" cy="2183363"/>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EBA9E9C8-7FA7-6DC7-C7E9-0D8E786A34FA}"/>
              </a:ext>
            </a:extLst>
          </p:cNvPr>
          <p:cNvSpPr/>
          <p:nvPr/>
        </p:nvSpPr>
        <p:spPr>
          <a:xfrm>
            <a:off x="-2076357" y="2509935"/>
            <a:ext cx="2011043"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25DAA4E-C4F9-826C-2AA3-0A28C2E1C6D0}"/>
              </a:ext>
            </a:extLst>
          </p:cNvPr>
          <p:cNvSpPr txBox="1"/>
          <p:nvPr/>
        </p:nvSpPr>
        <p:spPr>
          <a:xfrm>
            <a:off x="-5141556" y="139957"/>
            <a:ext cx="4497355" cy="646331"/>
          </a:xfrm>
          <a:prstGeom prst="rect">
            <a:avLst/>
          </a:prstGeom>
          <a:noFill/>
        </p:spPr>
        <p:txBody>
          <a:bodyPr wrap="square" rtlCol="0">
            <a:spAutoFit/>
          </a:bodyPr>
          <a:lstStyle/>
          <a:p>
            <a:r>
              <a:rPr lang="vi-VN" b="1" dirty="0">
                <a:latin typeface="Bahnschrift Condensed" panose="020B0502040204020203" pitchFamily="34" charset="0"/>
              </a:rPr>
              <a:t>ĐẠI HỌC KIẾN TRÚC HÀ NỘI</a:t>
            </a:r>
          </a:p>
          <a:p>
            <a:r>
              <a:rPr lang="vi-VN" dirty="0">
                <a:latin typeface="Bahnschrift Light Condensed" panose="020B0502040204020203" pitchFamily="34" charset="0"/>
              </a:rPr>
              <a:t>KHOA CÔNG NGHỆ THÔNG TIN</a:t>
            </a:r>
            <a:endParaRPr lang="en-US" dirty="0">
              <a:latin typeface="Bahnschrift Light Condensed" panose="020B0502040204020203" pitchFamily="34" charset="0"/>
            </a:endParaRPr>
          </a:p>
        </p:txBody>
      </p:sp>
      <p:pic>
        <p:nvPicPr>
          <p:cNvPr id="6" name="Picture 5">
            <a:extLst>
              <a:ext uri="{FF2B5EF4-FFF2-40B4-BE49-F238E27FC236}">
                <a16:creationId xmlns:a16="http://schemas.microsoft.com/office/drawing/2014/main" id="{D2C51D65-EE87-751D-A04C-BCB1C1AA966E}"/>
              </a:ext>
            </a:extLst>
          </p:cNvPr>
          <p:cNvPicPr>
            <a:picLocks noChangeAspect="1"/>
          </p:cNvPicPr>
          <p:nvPr/>
        </p:nvPicPr>
        <p:blipFill>
          <a:blip r:embed="rId2"/>
          <a:stretch>
            <a:fillRect/>
          </a:stretch>
        </p:blipFill>
        <p:spPr>
          <a:xfrm>
            <a:off x="-5861568" y="139958"/>
            <a:ext cx="646331" cy="646331"/>
          </a:xfrm>
          <a:prstGeom prst="rect">
            <a:avLst/>
          </a:prstGeom>
        </p:spPr>
      </p:pic>
      <p:sp>
        <p:nvSpPr>
          <p:cNvPr id="4" name="TextBox 3">
            <a:extLst>
              <a:ext uri="{FF2B5EF4-FFF2-40B4-BE49-F238E27FC236}">
                <a16:creationId xmlns:a16="http://schemas.microsoft.com/office/drawing/2014/main" id="{C78A4529-41C3-5FA0-9786-2505961B29CE}"/>
              </a:ext>
            </a:extLst>
          </p:cNvPr>
          <p:cNvSpPr txBox="1"/>
          <p:nvPr/>
        </p:nvSpPr>
        <p:spPr>
          <a:xfrm>
            <a:off x="747413" y="2251510"/>
            <a:ext cx="10589281" cy="1015663"/>
          </a:xfrm>
          <a:prstGeom prst="rect">
            <a:avLst/>
          </a:prstGeom>
          <a:noFill/>
        </p:spPr>
        <p:txBody>
          <a:bodyPr wrap="square" rtlCol="0">
            <a:spAutoFit/>
          </a:bodyPr>
          <a:lstStyle/>
          <a:p>
            <a:pPr algn="ctr"/>
            <a:r>
              <a:rPr lang="vi-VN" sz="6000" dirty="0">
                <a:latin typeface="Bahnschrift SemiBold Condensed" panose="020B0502040204020203" pitchFamily="34" charset="0"/>
              </a:rPr>
              <a:t>CẢM ƠN CÁC BẠN ĐÃ LẮNG NGHE</a:t>
            </a:r>
            <a:endParaRPr lang="en-US" sz="6000" dirty="0">
              <a:latin typeface="Bahnschrift SemiBold Condensed" panose="020B0502040204020203" pitchFamily="34" charset="0"/>
            </a:endParaRPr>
          </a:p>
        </p:txBody>
      </p:sp>
      <p:sp>
        <p:nvSpPr>
          <p:cNvPr id="5" name="Rectangle 4">
            <a:extLst>
              <a:ext uri="{FF2B5EF4-FFF2-40B4-BE49-F238E27FC236}">
                <a16:creationId xmlns:a16="http://schemas.microsoft.com/office/drawing/2014/main" id="{5A3399FF-5835-C020-C082-15A5B13EFC4C}"/>
              </a:ext>
            </a:extLst>
          </p:cNvPr>
          <p:cNvSpPr/>
          <p:nvPr/>
        </p:nvSpPr>
        <p:spPr>
          <a:xfrm>
            <a:off x="10228075" y="2509935"/>
            <a:ext cx="2573525"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9054255-6D9A-CDB6-5276-1C6B1D0C06E0}"/>
              </a:ext>
            </a:extLst>
          </p:cNvPr>
          <p:cNvSpPr/>
          <p:nvPr/>
        </p:nvSpPr>
        <p:spPr>
          <a:xfrm>
            <a:off x="-630112" y="2509935"/>
            <a:ext cx="2573525" cy="5505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AF0D205-DD37-25BB-2DC0-236A02289C99}"/>
              </a:ext>
            </a:extLst>
          </p:cNvPr>
          <p:cNvSpPr txBox="1"/>
          <p:nvPr/>
        </p:nvSpPr>
        <p:spPr>
          <a:xfrm>
            <a:off x="7433388" y="139957"/>
            <a:ext cx="4497355" cy="646331"/>
          </a:xfrm>
          <a:prstGeom prst="rect">
            <a:avLst/>
          </a:prstGeom>
          <a:noFill/>
        </p:spPr>
        <p:txBody>
          <a:bodyPr wrap="square" rtlCol="0">
            <a:spAutoFit/>
          </a:bodyPr>
          <a:lstStyle/>
          <a:p>
            <a:pPr algn="r"/>
            <a:r>
              <a:rPr lang="en-US" b="1" dirty="0">
                <a:latin typeface="Bahnschrift Condensed" panose="020B0502040204020203" pitchFamily="34" charset="0"/>
              </a:rPr>
              <a:t>TH5225 – </a:t>
            </a:r>
            <a:r>
              <a:rPr lang="vi-VN" b="1" dirty="0">
                <a:latin typeface="Bahnschrift Condensed" panose="020B0502040204020203" pitchFamily="34" charset="0"/>
              </a:rPr>
              <a:t>ĐA PHƯƠNG TIỆN</a:t>
            </a:r>
          </a:p>
          <a:p>
            <a:pPr algn="r"/>
            <a:r>
              <a:rPr lang="vi-VN" dirty="0">
                <a:latin typeface="Bahnschrift Light Condensed" panose="020B0502040204020203" pitchFamily="34" charset="0"/>
              </a:rPr>
              <a:t>NHÓM 11 - 22CN2</a:t>
            </a:r>
          </a:p>
        </p:txBody>
      </p:sp>
    </p:spTree>
    <p:extLst>
      <p:ext uri="{BB962C8B-B14F-4D97-AF65-F5344CB8AC3E}">
        <p14:creationId xmlns:p14="http://schemas.microsoft.com/office/powerpoint/2010/main" val="3597101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1801</Words>
  <Application>Microsoft Office PowerPoint</Application>
  <PresentationFormat>Widescreen</PresentationFormat>
  <Paragraphs>177</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Aptos Display</vt:lpstr>
      <vt:lpstr>Arial</vt:lpstr>
      <vt:lpstr>Bahnschrift Condensed</vt:lpstr>
      <vt:lpstr>Bahnschrift Light Condensed</vt:lpstr>
      <vt:lpstr>Bahnschrift SemiBold Condensed</vt:lpstr>
      <vt:lpstr>Cascadia Code</vt:lpstr>
      <vt:lpstr>Cascadia Code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 Ñ.</dc:creator>
  <cp:lastModifiedBy>Dang Ñ.</cp:lastModifiedBy>
  <cp:revision>2</cp:revision>
  <dcterms:created xsi:type="dcterms:W3CDTF">2026-03-25T02:21:17Z</dcterms:created>
  <dcterms:modified xsi:type="dcterms:W3CDTF">2026-03-25T07:38:00Z</dcterms:modified>
</cp:coreProperties>
</file>